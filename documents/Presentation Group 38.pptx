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4"/>
  </p:sldMasterIdLst>
  <p:notesMasterIdLst>
    <p:notesMasterId r:id="rId36"/>
  </p:notesMasterIdLst>
  <p:sldIdLst>
    <p:sldId id="256" r:id="rId5"/>
    <p:sldId id="257" r:id="rId6"/>
    <p:sldId id="258" r:id="rId7"/>
    <p:sldId id="259" r:id="rId8"/>
    <p:sldId id="314" r:id="rId9"/>
    <p:sldId id="264" r:id="rId10"/>
    <p:sldId id="327" r:id="rId11"/>
    <p:sldId id="302" r:id="rId12"/>
    <p:sldId id="317" r:id="rId13"/>
    <p:sldId id="265" r:id="rId14"/>
    <p:sldId id="304" r:id="rId15"/>
    <p:sldId id="320" r:id="rId16"/>
    <p:sldId id="321" r:id="rId17"/>
    <p:sldId id="322" r:id="rId18"/>
    <p:sldId id="323" r:id="rId19"/>
    <p:sldId id="324" r:id="rId20"/>
    <p:sldId id="328" r:id="rId21"/>
    <p:sldId id="309" r:id="rId22"/>
    <p:sldId id="310" r:id="rId23"/>
    <p:sldId id="332" r:id="rId24"/>
    <p:sldId id="311" r:id="rId25"/>
    <p:sldId id="313" r:id="rId26"/>
    <p:sldId id="325" r:id="rId27"/>
    <p:sldId id="331" r:id="rId28"/>
    <p:sldId id="315" r:id="rId29"/>
    <p:sldId id="329" r:id="rId30"/>
    <p:sldId id="330" r:id="rId31"/>
    <p:sldId id="283" r:id="rId32"/>
    <p:sldId id="306" r:id="rId33"/>
    <p:sldId id="307" r:id="rId34"/>
    <p:sldId id="308" r:id="rId35"/>
  </p:sldIdLst>
  <p:sldSz cx="18288000" cy="10287000"/>
  <p:notesSz cx="18288000" cy="10287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FFFFFF"/>
    <a:srgbClr val="F6D7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9741F-A232-5A38-C9F5-2856AAF9D275}" v="5" dt="2025-12-18T10:20:09.930"/>
    <p1510:client id="{24930DD9-DB63-4D81-B87E-40808F6EA088}" v="117" dt="2025-12-18T11:09:30.398"/>
    <p1510:client id="{530396F3-19E7-1FCC-30E5-3D6D2CEC171D}" v="31" dt="2025-12-18T20:36:50.901"/>
    <p1510:client id="{5B4AE692-B5BA-43E2-597C-9AC6527CFCE4}" v="16" dt="2025-12-18T10:20:07.891"/>
    <p1510:client id="{8C30858A-074A-AA03-F84C-4BDB6478F136}" v="32" dt="2025-12-18T11:12:51.614"/>
    <p1510:client id="{90A04050-6ACB-434B-B54B-2D62695AA890}" v="285" dt="2025-12-18T11:36:16.22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2272" autoAdjust="0"/>
  </p:normalViewPr>
  <p:slideViewPr>
    <p:cSldViewPr snapToGrid="0">
      <p:cViewPr varScale="1">
        <p:scale>
          <a:sx n="34" d="100"/>
          <a:sy n="34" d="100"/>
        </p:scale>
        <p:origin x="1906" y="6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67D97-3D61-404C-A779-7D5AC79C4359}" type="datetimeFigureOut">
              <a:t>18/12/2025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11C6A3-A6EC-4C50-B705-584A86C2E8CF}" type="slidenum"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548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1C6A3-A6EC-4C50-B705-584A86C2E8CF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72743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Which artists should they book? 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1C6A3-A6EC-4C50-B705-584A86C2E8CF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38094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First 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1C6A3-A6EC-4C50-B705-584A86C2E8CF}" type="slidenum">
              <a:rPr lang="nl-BE" smtClean="0"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94455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Our project follows a standard Flask architecture based on an application factory called </a:t>
            </a:r>
            <a:r>
              <a:rPr lang="en-US" err="1"/>
              <a:t>create_app</a:t>
            </a:r>
            <a:r>
              <a:rPr lang="en-US"/>
              <a:t>().</a:t>
            </a:r>
            <a:br>
              <a:rPr lang="en-US"/>
            </a:br>
            <a:r>
              <a:rPr lang="en-US"/>
              <a:t> All database models are </a:t>
            </a:r>
            <a:r>
              <a:rPr lang="en-US" err="1"/>
              <a:t>centralised</a:t>
            </a:r>
            <a:r>
              <a:rPr lang="en-US"/>
              <a:t> in models.py and handled using </a:t>
            </a:r>
            <a:r>
              <a:rPr lang="en-US" err="1"/>
              <a:t>SQLAlchemy</a:t>
            </a:r>
            <a:r>
              <a:rPr lang="en-US"/>
              <a:t>.</a:t>
            </a:r>
            <a:br>
              <a:rPr lang="en-US"/>
            </a:br>
            <a:r>
              <a:rPr lang="en-US"/>
              <a:t> We divide the application logic into several blueprints inside app/routes such as core, auth, suggestions, poll, and admin.</a:t>
            </a:r>
            <a:br>
              <a:rPr lang="en-US"/>
            </a:br>
            <a:r>
              <a:rPr lang="en-US"/>
              <a:t> The templates folder contains all Jinja2 HTML files, and static files like CSS and images are stored under static.</a:t>
            </a:r>
            <a:br>
              <a:rPr lang="en-US"/>
            </a:br>
            <a:r>
              <a:rPr lang="en-US"/>
              <a:t> More complex logic is placed inside the services folder, while reusable helper functions go into utils.</a:t>
            </a:r>
            <a:br>
              <a:rPr lang="en-US"/>
            </a:br>
            <a:r>
              <a:rPr lang="en-US"/>
              <a:t> This keeps the project clean, modular, and easy to extend.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1C6A3-A6EC-4C50-B705-584A86C2E8CF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665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Inside create_app() we load our configuration settings, such as the database URL and the secret key.</a:t>
            </a:r>
            <a:br>
              <a:rPr lang="en-US">
                <a:cs typeface="+mn-lt"/>
              </a:rPr>
            </a:br>
            <a:r>
              <a:rPr lang="en-US"/>
              <a:t> We initialize </a:t>
            </a:r>
            <a:r>
              <a:rPr lang="en-US" err="1"/>
              <a:t>SQLAlchemy</a:t>
            </a:r>
            <a:r>
              <a:rPr lang="en-US"/>
              <a:t> and Flask-Migrate so we can manage database updates easily.</a:t>
            </a:r>
            <a:br>
              <a:rPr lang="en-US">
                <a:cs typeface="+mn-lt"/>
              </a:rPr>
            </a:br>
            <a:r>
              <a:rPr lang="en-US"/>
              <a:t> All blueprints are registered here so the app knows which route files to use.</a:t>
            </a:r>
            <a:br>
              <a:rPr lang="en-US">
                <a:cs typeface="+mn-lt"/>
              </a:rPr>
            </a:br>
            <a:r>
              <a:rPr lang="en-US"/>
              <a:t> We also define context processors, which inject variables like </a:t>
            </a:r>
            <a:r>
              <a:rPr lang="en-US" err="1"/>
              <a:t>current_user</a:t>
            </a:r>
            <a:r>
              <a:rPr lang="en-US"/>
              <a:t> or visibility flags for polls, suggestions, and results into every template.</a:t>
            </a:r>
            <a:br>
              <a:rPr lang="en-US">
                <a:cs typeface="+mn-lt"/>
              </a:rPr>
            </a:br>
            <a:r>
              <a:rPr lang="en-US"/>
              <a:t> This allows us to control what appears in the navigation bar depending on the user and the active edition.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1C6A3-A6EC-4C50-B705-584A86C2E8CF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0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</a:t>
            </a:r>
            <a:r>
              <a:rPr lang="en-US" err="1"/>
              <a:t>organise</a:t>
            </a:r>
            <a:r>
              <a:rPr lang="en-US"/>
              <a:t> our routes into blueprints based on functionality.</a:t>
            </a:r>
            <a:br>
              <a:rPr lang="en-US">
                <a:cs typeface="+mn-lt"/>
              </a:rPr>
            </a:br>
            <a:r>
              <a:rPr lang="en-US"/>
              <a:t> core.py contains the homepage and basic routes.</a:t>
            </a:r>
            <a:br>
              <a:rPr lang="en-US">
                <a:cs typeface="+mn-lt"/>
              </a:rPr>
            </a:br>
            <a:r>
              <a:rPr lang="en-US"/>
              <a:t> auth.py handles user registration, login, and logout.</a:t>
            </a:r>
            <a:br>
              <a:rPr lang="en-US">
                <a:cs typeface="+mn-lt"/>
              </a:rPr>
            </a:br>
            <a:r>
              <a:rPr lang="en-US"/>
              <a:t> In suggestions.py, users can submit artists for a specific edition.</a:t>
            </a:r>
            <a:br>
              <a:rPr lang="en-US">
                <a:cs typeface="+mn-lt"/>
              </a:rPr>
            </a:br>
            <a:r>
              <a:rPr lang="en-US"/>
              <a:t> poll.py contains everything related to viewing polls, voting, and showing poll results.</a:t>
            </a:r>
            <a:br>
              <a:rPr lang="en-US">
                <a:cs typeface="+mn-lt"/>
              </a:rPr>
            </a:br>
            <a:r>
              <a:rPr lang="en-US"/>
              <a:t> For administrators, we have admin.py and admin_editions.py, which allow managing users, artists, and festival editions.</a:t>
            </a:r>
            <a:br>
              <a:rPr lang="en-US">
                <a:cs typeface="+mn-lt"/>
              </a:rPr>
            </a:br>
            <a:r>
              <a:rPr lang="en-US"/>
              <a:t> This separation makes the project much easier to maintain.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1C6A3-A6EC-4C50-B705-584A86C2E8CF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499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 database models are defined using </a:t>
            </a:r>
            <a:r>
              <a:rPr lang="en-US" err="1"/>
              <a:t>SQLAlchemy</a:t>
            </a:r>
            <a:r>
              <a:rPr lang="en-US"/>
              <a:t>.</a:t>
            </a:r>
            <a:br>
              <a:rPr lang="en-US">
                <a:cs typeface="+mn-lt"/>
              </a:rPr>
            </a:br>
            <a:r>
              <a:rPr lang="en-US"/>
              <a:t> User stores authentication details and whether a user is an admin.</a:t>
            </a:r>
            <a:br>
              <a:rPr lang="en-US">
                <a:cs typeface="+mn-lt"/>
              </a:rPr>
            </a:br>
            <a:r>
              <a:rPr lang="en-US"/>
              <a:t> </a:t>
            </a:r>
            <a:r>
              <a:rPr lang="en-US" err="1"/>
              <a:t>FestivalEdition</a:t>
            </a:r>
            <a:r>
              <a:rPr lang="en-US"/>
              <a:t> represents a festival edition and includes start and end dates as well as an active flag.</a:t>
            </a:r>
            <a:br>
              <a:rPr lang="en-US">
                <a:cs typeface="+mn-lt"/>
              </a:rPr>
            </a:br>
            <a:r>
              <a:rPr lang="en-US"/>
              <a:t> Each artist belongs to an edition, and we link artists to genres via the many-to-many table </a:t>
            </a:r>
            <a:r>
              <a:rPr lang="en-US" err="1"/>
              <a:t>ArtistGenres</a:t>
            </a:r>
            <a:r>
              <a:rPr lang="en-US"/>
              <a:t>.</a:t>
            </a:r>
            <a:br>
              <a:rPr lang="en-US">
                <a:cs typeface="+mn-lt"/>
              </a:rPr>
            </a:br>
            <a:r>
              <a:rPr lang="en-US"/>
              <a:t> </a:t>
            </a:r>
            <a:r>
              <a:rPr lang="en-US" err="1"/>
              <a:t>SuggestionFeedback</a:t>
            </a:r>
            <a:r>
              <a:rPr lang="en-US"/>
              <a:t> tracks which user suggested which artist.</a:t>
            </a:r>
            <a:br>
              <a:rPr lang="en-US">
                <a:cs typeface="+mn-lt"/>
              </a:rPr>
            </a:br>
            <a:r>
              <a:rPr lang="en-US"/>
              <a:t> For the poll system, we use three models: Poll for the poll itself, </a:t>
            </a:r>
            <a:r>
              <a:rPr lang="en-US" err="1"/>
              <a:t>Polloption</a:t>
            </a:r>
            <a:r>
              <a:rPr lang="en-US"/>
              <a:t> for the artists included, and </a:t>
            </a:r>
            <a:r>
              <a:rPr lang="en-US" err="1"/>
              <a:t>VotesFor</a:t>
            </a:r>
            <a:r>
              <a:rPr lang="en-US"/>
              <a:t> to store the user’s vote.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1C6A3-A6EC-4C50-B705-584A86C2E8CF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5814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moved more complex logic out of the routes and into services.</a:t>
            </a:r>
            <a:br>
              <a:rPr lang="en-US">
                <a:cs typeface="+mn-lt"/>
              </a:rPr>
            </a:br>
            <a:r>
              <a:rPr lang="en-US"/>
              <a:t> The poll service decides which festival edition is active and ensures that a poll exists for that edition.</a:t>
            </a:r>
            <a:br>
              <a:rPr lang="en-US">
                <a:cs typeface="+mn-lt"/>
              </a:rPr>
            </a:br>
            <a:r>
              <a:rPr lang="en-US"/>
              <a:t> The genre profile service analyzes a user’s suggestions, determines their preferred genres, and generates personalized poll options.</a:t>
            </a:r>
            <a:br>
              <a:rPr lang="en-US">
                <a:cs typeface="+mn-lt"/>
              </a:rPr>
            </a:br>
            <a:r>
              <a:rPr lang="en-US"/>
              <a:t> In the utilities folder we handle session logic, such as retrieving the logged-in user from the session cookie.</a:t>
            </a:r>
            <a:br>
              <a:rPr lang="en-US">
                <a:cs typeface="+mn-lt"/>
              </a:rPr>
            </a:br>
            <a:r>
              <a:rPr lang="en-US"/>
              <a:t> This separation keeps the routes clean and ensures that our logic can be reused across the 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1C6A3-A6EC-4C50-B705-584A86C2E8CF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753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Our application uses algorithmic support to personalise polls for users.</a:t>
            </a:r>
            <a:br>
              <a:rPr lang="en-GB" dirty="0"/>
            </a:br>
            <a:r>
              <a:rPr lang="en-GB" dirty="0"/>
              <a:t>Based on the genres of artists a user has suggested, we build a genre profile that reflects their musical preferences.</a:t>
            </a:r>
            <a:br>
              <a:rPr lang="en-GB" dirty="0"/>
            </a:br>
            <a:r>
              <a:rPr lang="en-GB" dirty="0"/>
              <a:t>We then score all available artists by comparing their genres with the user’s profile, taking genre similarity into account.</a:t>
            </a:r>
            <a:br>
              <a:rPr lang="en-GB" dirty="0"/>
            </a:br>
            <a:r>
              <a:rPr lang="en-GB" dirty="0"/>
              <a:t>The highest-scoring artists are selected as personalised poll options.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1C6A3-A6EC-4C50-B705-584A86C2E8CF}" type="slidenum">
              <a:rPr lang="nl-BE" smtClean="0"/>
              <a:t>17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000315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“At MVP level, images are stored locally and the database only keeps the relative path.</a:t>
            </a:r>
            <a:br>
              <a:rPr lang="en-US"/>
            </a:br>
            <a:r>
              <a:rPr lang="en-US"/>
              <a:t> For future scalability, this setup can easily be migrated to Supabase Storage without changing the database structure.”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1C6A3-A6EC-4C50-B705-584A86C2E8CF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6656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dirty="0" err="1"/>
              <a:t>CardinaliteitArtist</a:t>
            </a:r>
            <a:r>
              <a:rPr lang="nl-BE" dirty="0"/>
              <a:t> – </a:t>
            </a:r>
            <a:r>
              <a:rPr lang="nl-BE" dirty="0" err="1"/>
              <a:t>GenreN</a:t>
            </a:r>
            <a:r>
              <a:rPr lang="nl-BE" dirty="0"/>
              <a:t> : 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dirty="0" err="1"/>
              <a:t>FestivalEdition</a:t>
            </a:r>
            <a:r>
              <a:rPr lang="nl-BE" dirty="0"/>
              <a:t> – Artist1 : 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dirty="0" err="1"/>
              <a:t>FestivalEdition</a:t>
            </a:r>
            <a:r>
              <a:rPr lang="nl-BE" dirty="0"/>
              <a:t> – Poll1 : 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dirty="0"/>
              <a:t>Poll – Polloption1 : 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dirty="0"/>
              <a:t>Artist – Polloption1 : 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dirty="0"/>
              <a:t>User – Polloption (via </a:t>
            </a:r>
            <a:r>
              <a:rPr lang="nl-BE" dirty="0" err="1"/>
              <a:t>Votes_for</a:t>
            </a:r>
            <a:r>
              <a:rPr lang="nl-BE" dirty="0"/>
              <a:t>)N : 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dirty="0"/>
              <a:t>User – Suggestion_feedback1 : 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dirty="0"/>
              <a:t>Artist – Suggestion_feedback1 : 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dirty="0"/>
              <a:t>Genre – Genre0..1 : 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We introduced the </a:t>
            </a:r>
            <a:r>
              <a:rPr lang="en-GB" dirty="0" err="1"/>
              <a:t>ArtistGenres</a:t>
            </a:r>
            <a:r>
              <a:rPr lang="en-GB" dirty="0"/>
              <a:t> table to correctly model the many-to-many relationship between artists and genres. This avoids redundancy, supports normalization and is essential for our genre-based recommendation algorithm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err="1"/>
              <a:t>Votes_for</a:t>
            </a:r>
            <a:r>
              <a:rPr lang="en-GB" dirty="0"/>
              <a:t> resolves the many-to-many relationship between users and poll options, while also allowing us to store metadata such as the vote timestamp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dirty="0"/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1C6A3-A6EC-4C50-B705-584A86C2E8CF}" type="slidenum">
              <a:rPr lang="nl-BE" smtClean="0"/>
              <a:t>27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741279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function begins by retrieving the logged-in user and determining the active poll.</a:t>
            </a:r>
            <a:br>
              <a:rPr lang="en-US" dirty="0">
                <a:cs typeface="+mn-lt"/>
              </a:rPr>
            </a:br>
            <a:r>
              <a:rPr lang="en-US" dirty="0"/>
              <a:t> Next, it analyses all the artists that the user has suggested and counts how often each music genre appears.</a:t>
            </a:r>
            <a:br>
              <a:rPr lang="en-US" dirty="0">
                <a:cs typeface="+mn-lt"/>
              </a:rPr>
            </a:br>
            <a:r>
              <a:rPr lang="en-US" dirty="0"/>
              <a:t> A database query links genres to artists and filters them by the user’s suggestions.</a:t>
            </a:r>
            <a:br>
              <a:rPr lang="en-US" dirty="0">
                <a:cs typeface="+mn-lt"/>
              </a:rPr>
            </a:br>
            <a:r>
              <a:rPr lang="en-US" dirty="0"/>
              <a:t> The results are converted into percentages to create a clear overview of the user’s musical preferences.</a:t>
            </a:r>
            <a:br>
              <a:rPr lang="en-US" dirty="0">
                <a:cs typeface="+mn-lt"/>
              </a:rPr>
            </a:br>
            <a:r>
              <a:rPr lang="en-US" dirty="0"/>
              <a:t> This genre profile later helps to </a:t>
            </a:r>
            <a:r>
              <a:rPr lang="en-US" dirty="0" err="1"/>
              <a:t>personalise</a:t>
            </a:r>
            <a:r>
              <a:rPr lang="en-US" dirty="0"/>
              <a:t> the poll for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1C6A3-A6EC-4C50-B705-584A86C2E8CF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392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calculating the genre percentages, they are sorted from highest to lowest, showing the user’s </a:t>
            </a:r>
            <a:r>
              <a:rPr lang="en-US" dirty="0" err="1"/>
              <a:t>favourite</a:t>
            </a:r>
            <a:r>
              <a:rPr lang="en-US" dirty="0"/>
              <a:t> genres first.</a:t>
            </a:r>
            <a:br>
              <a:rPr lang="en-US" dirty="0">
                <a:cs typeface="+mn-lt"/>
              </a:rPr>
            </a:br>
            <a:r>
              <a:rPr lang="en-US" dirty="0"/>
              <a:t> The function then checks which votes the user has already cast in the current festival edition.</a:t>
            </a:r>
            <a:br>
              <a:rPr lang="en-US" dirty="0">
                <a:cs typeface="+mn-lt"/>
              </a:rPr>
            </a:br>
            <a:r>
              <a:rPr lang="en-US" dirty="0"/>
              <a:t> A multi-table join retrieves detailed information about the selected artists and the poll options.</a:t>
            </a:r>
            <a:br>
              <a:rPr lang="en-US" dirty="0">
                <a:cs typeface="+mn-lt"/>
              </a:rPr>
            </a:br>
            <a:r>
              <a:rPr lang="en-US" dirty="0"/>
              <a:t> This gives a complete record of the user’s voting history for that edition.</a:t>
            </a:r>
            <a:br>
              <a:rPr lang="en-US" dirty="0">
                <a:cs typeface="+mn-lt"/>
              </a:rPr>
            </a:br>
            <a:r>
              <a:rPr lang="en-US" dirty="0"/>
              <a:t> The data is later shown on the results page to provide context for the </a:t>
            </a:r>
            <a:r>
              <a:rPr lang="en-US" dirty="0" err="1"/>
              <a:t>personalised</a:t>
            </a:r>
            <a:r>
              <a:rPr lang="en-US" dirty="0"/>
              <a:t>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1C6A3-A6EC-4C50-B705-584A86C2E8CF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3410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personalised</a:t>
            </a:r>
            <a:r>
              <a:rPr lang="en-US" dirty="0"/>
              <a:t> poll generation starts by loading the user’s genre profile and comparing genres to see how closely they relate.</a:t>
            </a:r>
            <a:br>
              <a:rPr lang="en-US" dirty="0">
                <a:cs typeface="+mn-lt"/>
              </a:rPr>
            </a:br>
            <a:r>
              <a:rPr lang="en-US" dirty="0"/>
              <a:t> A lookup table is created so genres can be matched efficiently by name.</a:t>
            </a:r>
            <a:br>
              <a:rPr lang="en-US" dirty="0">
                <a:cs typeface="+mn-lt"/>
              </a:rPr>
            </a:br>
            <a:r>
              <a:rPr lang="en-US" dirty="0"/>
              <a:t> All artists are then fetched from the database together with their associated genres.</a:t>
            </a:r>
            <a:br>
              <a:rPr lang="en-US" dirty="0">
                <a:cs typeface="+mn-lt"/>
              </a:rPr>
            </a:br>
            <a:r>
              <a:rPr lang="en-US" dirty="0"/>
              <a:t> The data is </a:t>
            </a:r>
            <a:r>
              <a:rPr lang="en-US" dirty="0" err="1"/>
              <a:t>reorganised</a:t>
            </a:r>
            <a:r>
              <a:rPr lang="en-US" dirty="0"/>
              <a:t> so that each artist has a list of genres attached to them.</a:t>
            </a:r>
            <a:br>
              <a:rPr lang="en-US" dirty="0">
                <a:cs typeface="+mn-lt"/>
              </a:rPr>
            </a:br>
            <a:r>
              <a:rPr lang="en-US" dirty="0"/>
              <a:t> This structured dataset is necessary for calculating how well each artist fits the user’s preferences.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1C6A3-A6EC-4C50-B705-584A86C2E8CF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3258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artist is given a score based on how well they align with the user’s music tastes.</a:t>
            </a:r>
            <a:br>
              <a:rPr lang="en-US" dirty="0">
                <a:cs typeface="+mn-lt"/>
              </a:rPr>
            </a:br>
            <a:r>
              <a:rPr lang="en-US" dirty="0"/>
              <a:t> The scoring takes into account the user’s </a:t>
            </a:r>
            <a:r>
              <a:rPr lang="en-US" dirty="0" err="1"/>
              <a:t>favourite</a:t>
            </a:r>
            <a:r>
              <a:rPr lang="en-US" dirty="0"/>
              <a:t> genres, the similarity between genres, and whether the user previously suggested the artist.</a:t>
            </a:r>
            <a:br>
              <a:rPr lang="en-US" dirty="0">
                <a:cs typeface="+mn-lt"/>
              </a:rPr>
            </a:br>
            <a:r>
              <a:rPr lang="en-US" dirty="0"/>
              <a:t> A stronger match results in a higher overall score.</a:t>
            </a:r>
            <a:br>
              <a:rPr lang="en-US" dirty="0">
                <a:cs typeface="+mn-lt"/>
              </a:rPr>
            </a:br>
            <a:r>
              <a:rPr lang="en-US" dirty="0"/>
              <a:t> Once all artists have been evaluated, the list is sorted from best to worst.</a:t>
            </a:r>
            <a:br>
              <a:rPr lang="en-US" dirty="0">
                <a:cs typeface="+mn-lt"/>
              </a:rPr>
            </a:br>
            <a:r>
              <a:rPr lang="en-US" dirty="0"/>
              <a:t> The top-scoring artists are then selected as the user’s </a:t>
            </a:r>
            <a:r>
              <a:rPr lang="en-US" dirty="0" err="1"/>
              <a:t>personalised</a:t>
            </a:r>
            <a:r>
              <a:rPr lang="en-US" dirty="0"/>
              <a:t> poll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1C6A3-A6EC-4C50-B705-584A86C2E8CF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59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9BC8B8-749F-2327-8EBD-6C8EFB9B2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D43988F-939A-E2C4-8E42-C3BCB8125C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3FEB342-D74A-39A4-5D68-FBBFC3C04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5854D9A-D981-071B-2474-D66C066AC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AF262B0-A7ED-FF9A-5FD1-82584B24B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93366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40F8FE-88EF-2269-0E53-74849ABD5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D26C359-EE6F-093A-8BCE-AC0EC8E61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05FFB16-D7F3-62B5-2888-6971052C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5D23329-E214-FCEC-231D-D1EAA9186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DEADDA0-72F4-0E2E-171C-18DF8A929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61833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578298-B69D-3F6F-41AD-6054C297B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A7F62F4-3219-357B-DFB3-7775A64BC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E648BD0-729E-03DD-062D-CB9F29013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65D0A9D-0DCA-68D7-7A38-A7EBD0BCB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3EE33F1-3EAE-3FB9-4573-0D23F926D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92599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761129-4268-F033-B5FF-0A8C4DC7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F73B310-1FA8-7299-D69A-98EC1F33D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60EA4B8-64AB-2974-5529-24FAD60E0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7DD735F-B42C-7A8B-50FF-05573EE49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4BE9E82-621B-CEDB-BF0C-F5CB1A3D4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16CC441-CBDC-7518-287F-1BEE543DC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90193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EC0A65-1D68-5A42-9B17-8A54337BF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B6A6615-9EBD-6D1F-ED71-812FEF884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0CFC29A-0ED7-A585-BAF1-B36F15D8B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664BD6D-16EF-1E10-95F4-E370CD663D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DC4964F-1016-99B4-D72C-9568EF7559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A67008DF-5402-406D-C93B-ED11FD84B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1480C8AA-89A7-DC78-BFBB-83AF914A6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389F81C-50EC-57B9-7135-A131EEFD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82113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7C6D98-29B5-3B53-6A30-A8AB5793E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C070BE1-A558-34F7-F33A-CEFB4F281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C668114-F3CF-946F-A7B7-8AED6F464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921A3F3-6262-2933-CCA9-CD8504E78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09356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ACB3F91-2513-E98D-DFA6-EC26FB484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54A43B1-3A1C-7F8D-06BC-B7BA634B1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100DADF-2174-41F1-616E-BBC4C7F4B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34835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E13B7-91E2-4D4B-FAB4-DBB60E777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82EBFFF-7555-4706-CBBB-DF1087FBD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DBD3496-4804-1B2C-7385-AD1C52096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B2E1436-FAFF-C227-0FE6-61E29B6BF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9E32FE4-0D86-5EC5-D592-2898ABCC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8710FC0-C621-50D4-4DAE-6908F90AE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88787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862799-406F-5075-821C-E4FF6BDA6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5226D8CC-69CA-E404-2C0A-9E45511EA4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5969F5B-2759-23F0-8B47-BA7D0A1F6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CFFBEA2-7336-AB08-62F1-FF53E104B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24E814B-0C09-B524-373F-1CC5B07A3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BF6E5C1-B58F-0F77-7B77-EE3955203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86220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B29C61-136D-4848-7140-A90478857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7FC9D54-BB50-2B51-9B1E-E30979038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E36E6AE-35CA-4F05-DBF1-9D9D6250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FF64EE2-433A-E1B2-B967-DB91C0466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2FBC2D8-6517-5720-3DCB-46C5915E1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04343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920E8B49-C1AF-DF32-E2EA-84D7EEE2F4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25BB7047-6139-B9BD-DB87-184580FF11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0A26A75-B7EF-FFB0-7797-CF8CC02E8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1A78BDE-1114-438F-AA91-6D274B86F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EE9CFD8-6925-59E4-C9EB-89AFB4EAD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88557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66588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5011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6334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451321" y="236915"/>
            <a:ext cx="5237480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D8F1F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3213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489E712-082D-0702-8C13-0571C806B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101C2FC-8856-C797-1E6E-2CC703122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C59253E-76A9-9BB0-4716-9F440184E5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90436EB-2472-A83B-6D27-E9D817BA10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A094349-1002-1A90-83C1-1F89AF51A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45760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miro.com/app/board/uXjVJt5dw5k=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eb-application-2025-group-38.onrender.com/?fbclid=IwY2xjawOvtjtzcnRjBmFwcF9pZAEwAAEerO90GIe0B3AUs6-oIALTorWsQr36n5rMvObpqA-TpOv_CjjYWKgbHSaLUG4&amp;brid=NxRVznoXcjmd68K7oYPorA" TargetMode="External"/><Relationship Id="rId2" Type="http://schemas.openxmlformats.org/officeDocument/2006/relationships/hyperlink" Target="https://www.jouwweb.nl/v2/website/7336701/editor/page/3164437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iro.com/app/board/uXjVJt5dw5k=/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2362200" y="2400300"/>
            <a:ext cx="13563600" cy="51916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13340"/>
              </a:lnSpc>
              <a:spcBef>
                <a:spcPts val="105"/>
              </a:spcBef>
            </a:pPr>
            <a:r>
              <a:rPr lang="en-GB" sz="9600" b="1" spc="430">
                <a:solidFill>
                  <a:srgbClr val="FFFAFA"/>
                </a:solidFill>
                <a:latin typeface="Trebuchet MS"/>
                <a:cs typeface="Trebuchet MS"/>
              </a:rPr>
              <a:t>MASPOE’s</a:t>
            </a:r>
            <a:endParaRPr sz="9600">
              <a:latin typeface="Trebuchet MS"/>
              <a:cs typeface="Trebuchet MS"/>
            </a:endParaRPr>
          </a:p>
          <a:p>
            <a:pPr algn="ctr">
              <a:lnSpc>
                <a:spcPts val="13340"/>
              </a:lnSpc>
            </a:pPr>
            <a:r>
              <a:rPr lang="en-GB" sz="9600" b="1" spc="-10">
                <a:latin typeface="Arial"/>
                <a:cs typeface="Arial"/>
              </a:rPr>
              <a:t>MVP Poll application</a:t>
            </a:r>
            <a:endParaRPr sz="9600">
              <a:latin typeface="Arial"/>
              <a:cs typeface="Arial"/>
            </a:endParaRPr>
          </a:p>
          <a:p>
            <a:pPr marL="1081405" marR="1073785" algn="ctr">
              <a:lnSpc>
                <a:spcPct val="101899"/>
              </a:lnSpc>
              <a:spcBef>
                <a:spcPts val="700"/>
              </a:spcBef>
            </a:pPr>
            <a:r>
              <a:rPr sz="3250" i="1" spc="155">
                <a:solidFill>
                  <a:srgbClr val="FFFFFF"/>
                </a:solidFill>
                <a:latin typeface="Arial"/>
                <a:cs typeface="Arial"/>
              </a:rPr>
              <a:t>3th</a:t>
            </a:r>
            <a:r>
              <a:rPr sz="3250" i="1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i="1">
                <a:solidFill>
                  <a:srgbClr val="FFFFFF"/>
                </a:solidFill>
                <a:latin typeface="Arial"/>
                <a:cs typeface="Arial"/>
              </a:rPr>
              <a:t>BSc</a:t>
            </a:r>
            <a:r>
              <a:rPr sz="3250" i="1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i="1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sz="3250" i="1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i="1" spc="-10">
                <a:solidFill>
                  <a:srgbClr val="FFFFFF"/>
                </a:solidFill>
                <a:latin typeface="Arial"/>
                <a:cs typeface="Arial"/>
              </a:rPr>
              <a:t>Engineering </a:t>
            </a:r>
            <a:endParaRPr lang="en-GB" sz="3250" i="1" spc="-10">
              <a:solidFill>
                <a:srgbClr val="FFFFFF"/>
              </a:solidFill>
              <a:latin typeface="Arial"/>
              <a:cs typeface="Arial"/>
            </a:endParaRPr>
          </a:p>
          <a:p>
            <a:pPr marL="1081405" marR="1073785" algn="ctr">
              <a:lnSpc>
                <a:spcPct val="101899"/>
              </a:lnSpc>
              <a:spcBef>
                <a:spcPts val="700"/>
              </a:spcBef>
            </a:pPr>
            <a:r>
              <a:rPr lang="en-GB" sz="3250" i="1" spc="70">
                <a:solidFill>
                  <a:srgbClr val="FFFFFF"/>
                </a:solidFill>
                <a:latin typeface="Arial"/>
                <a:cs typeface="Arial"/>
              </a:rPr>
              <a:t>Database systems </a:t>
            </a:r>
            <a:r>
              <a:rPr sz="3250" i="1" spc="235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3250" i="1" spc="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i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3250" i="1" spc="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i="1" spc="90">
                <a:solidFill>
                  <a:srgbClr val="FFFFFF"/>
                </a:solidFill>
                <a:latin typeface="Arial"/>
                <a:cs typeface="Arial"/>
              </a:rPr>
              <a:t>Structures</a:t>
            </a:r>
            <a:endParaRPr lang="en-GB" sz="3250" i="1" spc="90">
              <a:solidFill>
                <a:srgbClr val="FFFFFF"/>
              </a:solidFill>
              <a:latin typeface="Arial"/>
              <a:cs typeface="Arial"/>
            </a:endParaRPr>
          </a:p>
          <a:p>
            <a:pPr marL="1081405" marR="1073785" algn="ctr">
              <a:lnSpc>
                <a:spcPct val="101899"/>
              </a:lnSpc>
              <a:spcBef>
                <a:spcPts val="700"/>
              </a:spcBef>
            </a:pPr>
            <a:endParaRPr lang="en-GB" sz="3250" i="1" spc="9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41C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977172" y="3074616"/>
            <a:ext cx="2628900" cy="2292350"/>
            <a:chOff x="2977172" y="3074616"/>
            <a:chExt cx="2628900" cy="2292350"/>
          </a:xfrm>
        </p:grpSpPr>
        <p:sp>
          <p:nvSpPr>
            <p:cNvPr id="4" name="object 4"/>
            <p:cNvSpPr/>
            <p:nvPr/>
          </p:nvSpPr>
          <p:spPr>
            <a:xfrm>
              <a:off x="2986666" y="3084141"/>
              <a:ext cx="2613660" cy="2273300"/>
            </a:xfrm>
            <a:custGeom>
              <a:avLst/>
              <a:gdLst/>
              <a:ahLst/>
              <a:cxnLst/>
              <a:rect l="l" t="t" r="r" b="b"/>
              <a:pathLst>
                <a:path w="2613660" h="2273300">
                  <a:moveTo>
                    <a:pt x="2613061" y="2273180"/>
                  </a:moveTo>
                  <a:lnTo>
                    <a:pt x="0" y="2273180"/>
                  </a:lnTo>
                  <a:lnTo>
                    <a:pt x="0" y="0"/>
                  </a:lnTo>
                  <a:lnTo>
                    <a:pt x="2613061" y="0"/>
                  </a:lnTo>
                  <a:lnTo>
                    <a:pt x="2613061" y="2273180"/>
                  </a:lnTo>
                  <a:close/>
                </a:path>
              </a:pathLst>
            </a:custGeom>
            <a:solidFill>
              <a:srgbClr val="135C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86697" y="3084141"/>
              <a:ext cx="2609850" cy="2273300"/>
            </a:xfrm>
            <a:custGeom>
              <a:avLst/>
              <a:gdLst/>
              <a:ahLst/>
              <a:cxnLst/>
              <a:rect l="l" t="t" r="r" b="b"/>
              <a:pathLst>
                <a:path w="2609850" h="2273300">
                  <a:moveTo>
                    <a:pt x="2609818" y="2273051"/>
                  </a:moveTo>
                  <a:lnTo>
                    <a:pt x="0" y="2273051"/>
                  </a:lnTo>
                  <a:lnTo>
                    <a:pt x="0" y="0"/>
                  </a:lnTo>
                  <a:lnTo>
                    <a:pt x="2609818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33963" y="4640463"/>
              <a:ext cx="2203450" cy="0"/>
            </a:xfrm>
            <a:custGeom>
              <a:avLst/>
              <a:gdLst/>
              <a:ahLst/>
              <a:cxnLst/>
              <a:rect l="l" t="t" r="r" b="b"/>
              <a:pathLst>
                <a:path w="2203450">
                  <a:moveTo>
                    <a:pt x="0" y="0"/>
                  </a:moveTo>
                  <a:lnTo>
                    <a:pt x="2203124" y="0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835069" y="3074616"/>
            <a:ext cx="2628900" cy="2292350"/>
            <a:chOff x="5835069" y="3074616"/>
            <a:chExt cx="2628900" cy="2292350"/>
          </a:xfrm>
        </p:grpSpPr>
        <p:sp>
          <p:nvSpPr>
            <p:cNvPr id="8" name="object 8"/>
            <p:cNvSpPr/>
            <p:nvPr/>
          </p:nvSpPr>
          <p:spPr>
            <a:xfrm>
              <a:off x="5844563" y="3084141"/>
              <a:ext cx="2613660" cy="2273300"/>
            </a:xfrm>
            <a:custGeom>
              <a:avLst/>
              <a:gdLst/>
              <a:ahLst/>
              <a:cxnLst/>
              <a:rect l="l" t="t" r="r" b="b"/>
              <a:pathLst>
                <a:path w="2613659" h="2273300">
                  <a:moveTo>
                    <a:pt x="2613061" y="2273180"/>
                  </a:moveTo>
                  <a:lnTo>
                    <a:pt x="0" y="2273180"/>
                  </a:lnTo>
                  <a:lnTo>
                    <a:pt x="0" y="0"/>
                  </a:lnTo>
                  <a:lnTo>
                    <a:pt x="2613061" y="0"/>
                  </a:lnTo>
                  <a:lnTo>
                    <a:pt x="2613061" y="2273180"/>
                  </a:lnTo>
                  <a:close/>
                </a:path>
              </a:pathLst>
            </a:custGeom>
            <a:solidFill>
              <a:srgbClr val="135C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44594" y="3084141"/>
              <a:ext cx="2609850" cy="2273300"/>
            </a:xfrm>
            <a:custGeom>
              <a:avLst/>
              <a:gdLst/>
              <a:ahLst/>
              <a:cxnLst/>
              <a:rect l="l" t="t" r="r" b="b"/>
              <a:pathLst>
                <a:path w="2609850" h="2273300">
                  <a:moveTo>
                    <a:pt x="2609818" y="2273051"/>
                  </a:moveTo>
                  <a:lnTo>
                    <a:pt x="0" y="2273051"/>
                  </a:lnTo>
                  <a:lnTo>
                    <a:pt x="0" y="0"/>
                  </a:lnTo>
                  <a:lnTo>
                    <a:pt x="2609818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91860" y="4640463"/>
              <a:ext cx="2203450" cy="0"/>
            </a:xfrm>
            <a:custGeom>
              <a:avLst/>
              <a:gdLst/>
              <a:ahLst/>
              <a:cxnLst/>
              <a:rect l="l" t="t" r="r" b="b"/>
              <a:pathLst>
                <a:path w="2203450">
                  <a:moveTo>
                    <a:pt x="0" y="0"/>
                  </a:moveTo>
                  <a:lnTo>
                    <a:pt x="2203124" y="0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2977182" y="5861209"/>
            <a:ext cx="2628900" cy="2266950"/>
            <a:chOff x="2977182" y="5861209"/>
            <a:chExt cx="2628900" cy="2266950"/>
          </a:xfrm>
        </p:grpSpPr>
        <p:sp>
          <p:nvSpPr>
            <p:cNvPr id="12" name="object 12"/>
            <p:cNvSpPr/>
            <p:nvPr/>
          </p:nvSpPr>
          <p:spPr>
            <a:xfrm>
              <a:off x="2986666" y="5870734"/>
              <a:ext cx="2613660" cy="2252980"/>
            </a:xfrm>
            <a:custGeom>
              <a:avLst/>
              <a:gdLst/>
              <a:ahLst/>
              <a:cxnLst/>
              <a:rect l="l" t="t" r="r" b="b"/>
              <a:pathLst>
                <a:path w="2613660" h="2252979">
                  <a:moveTo>
                    <a:pt x="2613061" y="2252657"/>
                  </a:moveTo>
                  <a:lnTo>
                    <a:pt x="0" y="2252657"/>
                  </a:lnTo>
                  <a:lnTo>
                    <a:pt x="0" y="0"/>
                  </a:lnTo>
                  <a:lnTo>
                    <a:pt x="2613061" y="0"/>
                  </a:lnTo>
                  <a:lnTo>
                    <a:pt x="2613061" y="2252657"/>
                  </a:lnTo>
                  <a:close/>
                </a:path>
              </a:pathLst>
            </a:custGeom>
            <a:solidFill>
              <a:srgbClr val="135C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86707" y="5870734"/>
              <a:ext cx="2609850" cy="2247900"/>
            </a:xfrm>
            <a:custGeom>
              <a:avLst/>
              <a:gdLst/>
              <a:ahLst/>
              <a:cxnLst/>
              <a:rect l="l" t="t" r="r" b="b"/>
              <a:pathLst>
                <a:path w="2609850" h="2247900">
                  <a:moveTo>
                    <a:pt x="0" y="2247899"/>
                  </a:moveTo>
                  <a:lnTo>
                    <a:pt x="0" y="0"/>
                  </a:lnTo>
                  <a:lnTo>
                    <a:pt x="2609809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33963" y="7427053"/>
              <a:ext cx="2203450" cy="0"/>
            </a:xfrm>
            <a:custGeom>
              <a:avLst/>
              <a:gdLst/>
              <a:ahLst/>
              <a:cxnLst/>
              <a:rect l="l" t="t" r="r" b="b"/>
              <a:pathLst>
                <a:path w="2203450">
                  <a:moveTo>
                    <a:pt x="0" y="0"/>
                  </a:moveTo>
                  <a:lnTo>
                    <a:pt x="2203124" y="0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835078" y="5861209"/>
            <a:ext cx="2628900" cy="2266950"/>
            <a:chOff x="5835078" y="5861209"/>
            <a:chExt cx="2628900" cy="2266950"/>
          </a:xfrm>
        </p:grpSpPr>
        <p:sp>
          <p:nvSpPr>
            <p:cNvPr id="16" name="object 16"/>
            <p:cNvSpPr/>
            <p:nvPr/>
          </p:nvSpPr>
          <p:spPr>
            <a:xfrm>
              <a:off x="5844563" y="5870734"/>
              <a:ext cx="2613660" cy="2252980"/>
            </a:xfrm>
            <a:custGeom>
              <a:avLst/>
              <a:gdLst/>
              <a:ahLst/>
              <a:cxnLst/>
              <a:rect l="l" t="t" r="r" b="b"/>
              <a:pathLst>
                <a:path w="2613659" h="2252979">
                  <a:moveTo>
                    <a:pt x="2613061" y="2252657"/>
                  </a:moveTo>
                  <a:lnTo>
                    <a:pt x="0" y="2252657"/>
                  </a:lnTo>
                  <a:lnTo>
                    <a:pt x="0" y="0"/>
                  </a:lnTo>
                  <a:lnTo>
                    <a:pt x="2613061" y="0"/>
                  </a:lnTo>
                  <a:lnTo>
                    <a:pt x="2613061" y="2252657"/>
                  </a:lnTo>
                  <a:close/>
                </a:path>
              </a:pathLst>
            </a:custGeom>
            <a:solidFill>
              <a:srgbClr val="135C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44603" y="5870734"/>
              <a:ext cx="2609850" cy="2247900"/>
            </a:xfrm>
            <a:custGeom>
              <a:avLst/>
              <a:gdLst/>
              <a:ahLst/>
              <a:cxnLst/>
              <a:rect l="l" t="t" r="r" b="b"/>
              <a:pathLst>
                <a:path w="2609850" h="2247900">
                  <a:moveTo>
                    <a:pt x="0" y="2247899"/>
                  </a:moveTo>
                  <a:lnTo>
                    <a:pt x="0" y="0"/>
                  </a:lnTo>
                  <a:lnTo>
                    <a:pt x="2609809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91860" y="7427053"/>
              <a:ext cx="2203450" cy="0"/>
            </a:xfrm>
            <a:custGeom>
              <a:avLst/>
              <a:gdLst/>
              <a:ahLst/>
              <a:cxnLst/>
              <a:rect l="l" t="t" r="r" b="b"/>
              <a:pathLst>
                <a:path w="2203450">
                  <a:moveTo>
                    <a:pt x="0" y="0"/>
                  </a:moveTo>
                  <a:lnTo>
                    <a:pt x="2203124" y="0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8711954" y="1512979"/>
            <a:ext cx="8288656" cy="8075295"/>
            <a:chOff x="8705274" y="1509629"/>
            <a:chExt cx="8288656" cy="8075295"/>
          </a:xfrm>
        </p:grpSpPr>
        <p:sp>
          <p:nvSpPr>
            <p:cNvPr id="20" name="object 20"/>
            <p:cNvSpPr/>
            <p:nvPr/>
          </p:nvSpPr>
          <p:spPr>
            <a:xfrm>
              <a:off x="10123658" y="1509629"/>
              <a:ext cx="6870272" cy="8075295"/>
            </a:xfrm>
            <a:custGeom>
              <a:avLst/>
              <a:gdLst/>
              <a:ahLst/>
              <a:cxnLst/>
              <a:rect l="l" t="t" r="r" b="b"/>
              <a:pathLst>
                <a:path w="6993255" h="8075295">
                  <a:moveTo>
                    <a:pt x="3496375" y="8074769"/>
                  </a:moveTo>
                  <a:lnTo>
                    <a:pt x="0" y="6056077"/>
                  </a:lnTo>
                  <a:lnTo>
                    <a:pt x="0" y="2018692"/>
                  </a:lnTo>
                  <a:lnTo>
                    <a:pt x="3496375" y="0"/>
                  </a:lnTo>
                  <a:lnTo>
                    <a:pt x="6992751" y="2018692"/>
                  </a:lnTo>
                  <a:lnTo>
                    <a:pt x="6992751" y="6056077"/>
                  </a:lnTo>
                  <a:lnTo>
                    <a:pt x="3496375" y="8074769"/>
                  </a:lnTo>
                  <a:close/>
                </a:path>
              </a:pathLst>
            </a:custGeom>
            <a:blipFill dpi="0" rotWithShape="1">
              <a:blip r:embed="rId2"/>
              <a:srcRect/>
              <a:stretch>
                <a:fillRect r="-36000"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05274" y="3084141"/>
              <a:ext cx="2613660" cy="2273300"/>
            </a:xfrm>
            <a:custGeom>
              <a:avLst/>
              <a:gdLst/>
              <a:ahLst/>
              <a:cxnLst/>
              <a:rect l="l" t="t" r="r" b="b"/>
              <a:pathLst>
                <a:path w="2613659" h="2273300">
                  <a:moveTo>
                    <a:pt x="2613061" y="2273180"/>
                  </a:moveTo>
                  <a:lnTo>
                    <a:pt x="0" y="2273180"/>
                  </a:lnTo>
                  <a:lnTo>
                    <a:pt x="0" y="0"/>
                  </a:lnTo>
                  <a:lnTo>
                    <a:pt x="2613061" y="0"/>
                  </a:lnTo>
                  <a:lnTo>
                    <a:pt x="2613061" y="2273180"/>
                  </a:lnTo>
                  <a:close/>
                </a:path>
              </a:pathLst>
            </a:custGeom>
            <a:solidFill>
              <a:srgbClr val="135C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705305" y="3084141"/>
              <a:ext cx="2609850" cy="2273300"/>
            </a:xfrm>
            <a:custGeom>
              <a:avLst/>
              <a:gdLst/>
              <a:ahLst/>
              <a:cxnLst/>
              <a:rect l="l" t="t" r="r" b="b"/>
              <a:pathLst>
                <a:path w="2609850" h="2273300">
                  <a:moveTo>
                    <a:pt x="2609818" y="2273051"/>
                  </a:moveTo>
                  <a:lnTo>
                    <a:pt x="0" y="2273051"/>
                  </a:lnTo>
                  <a:lnTo>
                    <a:pt x="0" y="0"/>
                  </a:lnTo>
                  <a:lnTo>
                    <a:pt x="2609818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852571" y="4640463"/>
              <a:ext cx="2203450" cy="0"/>
            </a:xfrm>
            <a:custGeom>
              <a:avLst/>
              <a:gdLst/>
              <a:ahLst/>
              <a:cxnLst/>
              <a:rect l="l" t="t" r="r" b="b"/>
              <a:pathLst>
                <a:path w="2203450">
                  <a:moveTo>
                    <a:pt x="0" y="0"/>
                  </a:moveTo>
                  <a:lnTo>
                    <a:pt x="2203124" y="0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05274" y="5870735"/>
              <a:ext cx="2613660" cy="2252980"/>
            </a:xfrm>
            <a:custGeom>
              <a:avLst/>
              <a:gdLst/>
              <a:ahLst/>
              <a:cxnLst/>
              <a:rect l="l" t="t" r="r" b="b"/>
              <a:pathLst>
                <a:path w="2613659" h="2252979">
                  <a:moveTo>
                    <a:pt x="2613061" y="2252657"/>
                  </a:moveTo>
                  <a:lnTo>
                    <a:pt x="0" y="2252657"/>
                  </a:lnTo>
                  <a:lnTo>
                    <a:pt x="0" y="0"/>
                  </a:lnTo>
                  <a:lnTo>
                    <a:pt x="2613061" y="0"/>
                  </a:lnTo>
                  <a:lnTo>
                    <a:pt x="2613061" y="2252657"/>
                  </a:lnTo>
                  <a:close/>
                </a:path>
              </a:pathLst>
            </a:custGeom>
            <a:solidFill>
              <a:srgbClr val="135C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05314" y="5870734"/>
              <a:ext cx="2609850" cy="2247900"/>
            </a:xfrm>
            <a:custGeom>
              <a:avLst/>
              <a:gdLst/>
              <a:ahLst/>
              <a:cxnLst/>
              <a:rect l="l" t="t" r="r" b="b"/>
              <a:pathLst>
                <a:path w="2609850" h="2247900">
                  <a:moveTo>
                    <a:pt x="0" y="2247899"/>
                  </a:moveTo>
                  <a:lnTo>
                    <a:pt x="0" y="0"/>
                  </a:lnTo>
                  <a:lnTo>
                    <a:pt x="2609809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852571" y="7427053"/>
              <a:ext cx="2203450" cy="0"/>
            </a:xfrm>
            <a:custGeom>
              <a:avLst/>
              <a:gdLst/>
              <a:ahLst/>
              <a:cxnLst/>
              <a:rect l="l" t="t" r="r" b="b"/>
              <a:pathLst>
                <a:path w="2203450">
                  <a:moveTo>
                    <a:pt x="0" y="0"/>
                  </a:moveTo>
                  <a:lnTo>
                    <a:pt x="2203124" y="0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4425232" y="1591791"/>
            <a:ext cx="5560695" cy="12484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0" b="1" spc="-10">
                <a:latin typeface="Arial"/>
                <a:cs typeface="Arial"/>
              </a:rPr>
              <a:t>OVERVIEW</a:t>
            </a:r>
            <a:endParaRPr sz="8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996222" y="3267093"/>
            <a:ext cx="2603500" cy="19177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1905" algn="ctr">
              <a:lnSpc>
                <a:spcPct val="100000"/>
              </a:lnSpc>
              <a:spcBef>
                <a:spcPts val="135"/>
              </a:spcBef>
            </a:pPr>
            <a:r>
              <a:rPr sz="5700" b="1" spc="-365">
                <a:solidFill>
                  <a:srgbClr val="FFFFFF"/>
                </a:solidFill>
                <a:latin typeface="Trebuchet MS"/>
                <a:cs typeface="Trebuchet MS"/>
              </a:rPr>
              <a:t>01</a:t>
            </a:r>
            <a:endParaRPr sz="5700">
              <a:latin typeface="Trebuchet MS"/>
              <a:cs typeface="Trebuchet MS"/>
            </a:endParaRPr>
          </a:p>
          <a:p>
            <a:pPr marR="1905" algn="ctr">
              <a:lnSpc>
                <a:spcPct val="100000"/>
              </a:lnSpc>
              <a:spcBef>
                <a:spcPts val="5195"/>
              </a:spcBef>
            </a:pPr>
            <a:r>
              <a:rPr sz="2350" spc="110">
                <a:solidFill>
                  <a:srgbClr val="FFFFFF"/>
                </a:solidFill>
                <a:latin typeface="Trebuchet MS"/>
                <a:cs typeface="Trebuchet MS"/>
              </a:rPr>
              <a:t>About</a:t>
            </a:r>
            <a:r>
              <a:rPr sz="235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GB" sz="2350" spc="105">
                <a:solidFill>
                  <a:srgbClr val="FFFFFF"/>
                </a:solidFill>
                <a:latin typeface="Trebuchet MS"/>
                <a:cs typeface="Trebuchet MS"/>
              </a:rPr>
              <a:t>MASPOE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854119" y="3267093"/>
            <a:ext cx="2603500" cy="19177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1905" algn="ctr">
              <a:lnSpc>
                <a:spcPct val="100000"/>
              </a:lnSpc>
              <a:spcBef>
                <a:spcPts val="135"/>
              </a:spcBef>
            </a:pPr>
            <a:r>
              <a:rPr sz="5700" b="1" spc="285">
                <a:solidFill>
                  <a:srgbClr val="FFFFFF"/>
                </a:solidFill>
                <a:latin typeface="Trebuchet MS"/>
                <a:cs typeface="Trebuchet MS"/>
              </a:rPr>
              <a:t>02</a:t>
            </a:r>
            <a:endParaRPr sz="5700">
              <a:latin typeface="Trebuchet MS"/>
              <a:cs typeface="Trebuchet MS"/>
            </a:endParaRPr>
          </a:p>
          <a:p>
            <a:pPr marR="1905" algn="ctr">
              <a:lnSpc>
                <a:spcPct val="100000"/>
              </a:lnSpc>
              <a:spcBef>
                <a:spcPts val="5195"/>
              </a:spcBef>
            </a:pPr>
            <a:r>
              <a:rPr sz="2350" spc="90">
                <a:solidFill>
                  <a:srgbClr val="FFFFFF"/>
                </a:solidFill>
                <a:latin typeface="Trebuchet MS"/>
                <a:cs typeface="Trebuchet MS"/>
              </a:rPr>
              <a:t>Our</a:t>
            </a:r>
            <a:r>
              <a:rPr sz="235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50" spc="40">
                <a:solidFill>
                  <a:srgbClr val="FFFFFF"/>
                </a:solidFill>
                <a:latin typeface="Trebuchet MS"/>
                <a:cs typeface="Trebuchet MS"/>
              </a:rPr>
              <a:t>Team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996232" y="6053684"/>
            <a:ext cx="2603500" cy="1918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04545">
              <a:lnSpc>
                <a:spcPct val="100000"/>
              </a:lnSpc>
              <a:spcBef>
                <a:spcPts val="135"/>
              </a:spcBef>
            </a:pPr>
            <a:r>
              <a:rPr sz="5700" b="1" spc="484">
                <a:solidFill>
                  <a:srgbClr val="FFFFFF"/>
                </a:solidFill>
                <a:latin typeface="Trebuchet MS"/>
                <a:cs typeface="Trebuchet MS"/>
              </a:rPr>
              <a:t>04</a:t>
            </a:r>
            <a:endParaRPr sz="5700">
              <a:latin typeface="Trebuchet MS"/>
              <a:cs typeface="Trebuchet MS"/>
            </a:endParaRPr>
          </a:p>
          <a:p>
            <a:pPr marL="700405">
              <a:lnSpc>
                <a:spcPct val="100000"/>
              </a:lnSpc>
              <a:spcBef>
                <a:spcPts val="5195"/>
              </a:spcBef>
            </a:pPr>
            <a:r>
              <a:rPr sz="2350" spc="55">
                <a:solidFill>
                  <a:srgbClr val="FFFFFF"/>
                </a:solidFill>
                <a:latin typeface="Trebuchet MS"/>
                <a:cs typeface="Trebuchet MS"/>
              </a:rPr>
              <a:t>Strategy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54128" y="6053684"/>
            <a:ext cx="2603500" cy="1918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12165">
              <a:lnSpc>
                <a:spcPct val="100000"/>
              </a:lnSpc>
              <a:spcBef>
                <a:spcPts val="135"/>
              </a:spcBef>
            </a:pPr>
            <a:r>
              <a:rPr sz="5700" b="1" spc="420">
                <a:solidFill>
                  <a:srgbClr val="FFFFFF"/>
                </a:solidFill>
                <a:latin typeface="Trebuchet MS"/>
                <a:cs typeface="Trebuchet MS"/>
              </a:rPr>
              <a:t>05</a:t>
            </a:r>
            <a:endParaRPr sz="5700">
              <a:latin typeface="Trebuchet MS"/>
              <a:cs typeface="Trebuchet MS"/>
            </a:endParaRPr>
          </a:p>
          <a:p>
            <a:pPr marL="865505">
              <a:lnSpc>
                <a:spcPct val="100000"/>
              </a:lnSpc>
              <a:spcBef>
                <a:spcPts val="5195"/>
              </a:spcBef>
            </a:pPr>
            <a:r>
              <a:rPr sz="2350" spc="-10">
                <a:solidFill>
                  <a:srgbClr val="FFFFFF"/>
                </a:solidFill>
                <a:latin typeface="Trebuchet MS"/>
                <a:cs typeface="Trebuchet MS"/>
              </a:rPr>
              <a:t>Result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198001" y="4808884"/>
            <a:ext cx="1637177" cy="378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lang="en-GB" sz="2350" spc="35">
                <a:solidFill>
                  <a:srgbClr val="FFFFFF"/>
                </a:solidFill>
                <a:latin typeface="Trebuchet MS"/>
                <a:cs typeface="Trebuchet MS"/>
              </a:rPr>
              <a:t>Beginning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253496" y="3267093"/>
            <a:ext cx="1494790" cy="89447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1590" algn="ctr">
              <a:lnSpc>
                <a:spcPct val="100000"/>
              </a:lnSpc>
              <a:spcBef>
                <a:spcPts val="135"/>
              </a:spcBef>
            </a:pPr>
            <a:r>
              <a:rPr sz="5700" b="1" spc="355">
                <a:solidFill>
                  <a:srgbClr val="FFFFFF"/>
                </a:solidFill>
                <a:latin typeface="Trebuchet MS"/>
                <a:cs typeface="Trebuchet MS"/>
              </a:rPr>
              <a:t>03</a:t>
            </a:r>
            <a:endParaRPr sz="570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714840" y="6053684"/>
            <a:ext cx="2603500" cy="1918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1905" algn="ctr">
              <a:lnSpc>
                <a:spcPct val="100000"/>
              </a:lnSpc>
              <a:spcBef>
                <a:spcPts val="135"/>
              </a:spcBef>
            </a:pPr>
            <a:r>
              <a:rPr sz="5700" b="1" spc="455">
                <a:solidFill>
                  <a:srgbClr val="FFFFFF"/>
                </a:solidFill>
                <a:latin typeface="Trebuchet MS"/>
                <a:cs typeface="Trebuchet MS"/>
              </a:rPr>
              <a:t>06</a:t>
            </a:r>
            <a:endParaRPr sz="5700">
              <a:latin typeface="Trebuchet MS"/>
              <a:cs typeface="Trebuchet MS"/>
            </a:endParaRPr>
          </a:p>
          <a:p>
            <a:pPr marR="1905" algn="ctr">
              <a:lnSpc>
                <a:spcPct val="100000"/>
              </a:lnSpc>
              <a:spcBef>
                <a:spcPts val="5195"/>
              </a:spcBef>
            </a:pPr>
            <a:r>
              <a:rPr sz="2350">
                <a:solidFill>
                  <a:srgbClr val="FFFFFF"/>
                </a:solidFill>
                <a:latin typeface="Trebuchet MS"/>
                <a:cs typeface="Trebuchet MS"/>
              </a:rPr>
              <a:t>Future</a:t>
            </a:r>
            <a:r>
              <a:rPr sz="235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50" spc="55">
                <a:solidFill>
                  <a:srgbClr val="FFFFFF"/>
                </a:solidFill>
                <a:latin typeface="Trebuchet MS"/>
                <a:cs typeface="Trebuchet MS"/>
              </a:rPr>
              <a:t>plans</a:t>
            </a:r>
            <a:endParaRPr sz="2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2014" y="1118470"/>
            <a:ext cx="8392440" cy="1246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0" b="1">
                <a:solidFill>
                  <a:schemeClr val="tx1"/>
                </a:solidFill>
                <a:latin typeface="Arial"/>
                <a:cs typeface="Arial"/>
              </a:rPr>
              <a:t>ABOUT</a:t>
            </a:r>
            <a:r>
              <a:rPr lang="en-GB" sz="8000" b="1" spc="-7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GB" sz="8000" b="1" spc="-40">
                <a:solidFill>
                  <a:schemeClr val="tx1"/>
                </a:solidFill>
                <a:latin typeface="Arial"/>
                <a:cs typeface="Arial"/>
              </a:rPr>
              <a:t>MASPOE </a:t>
            </a:r>
            <a:endParaRPr sz="80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6809BE-7ED7-24B2-8609-8A08CB903905}"/>
              </a:ext>
            </a:extLst>
          </p:cNvPr>
          <p:cNvSpPr txBox="1"/>
          <p:nvPr/>
        </p:nvSpPr>
        <p:spPr>
          <a:xfrm>
            <a:off x="2072562" y="2577824"/>
            <a:ext cx="14154925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3200">
                <a:ea typeface="+mn-lt"/>
                <a:cs typeface="+mn-lt"/>
              </a:rPr>
              <a:t>Belgian event-organizing organization</a:t>
            </a:r>
          </a:p>
          <a:p>
            <a:pPr marL="457200" indent="-457200">
              <a:buFont typeface="Arial"/>
              <a:buChar char="•"/>
            </a:pPr>
            <a:r>
              <a:rPr lang="en-US" sz="3200">
                <a:ea typeface="+mn-lt"/>
                <a:cs typeface="+mn-lt"/>
              </a:rPr>
              <a:t>Focused on sports, culture and entertainment</a:t>
            </a:r>
          </a:p>
          <a:p>
            <a:pPr marL="457200" indent="-457200">
              <a:buFont typeface="Arial"/>
              <a:buChar char="•"/>
            </a:pPr>
            <a:r>
              <a:rPr lang="en-US" sz="3200">
                <a:ea typeface="+mn-lt"/>
                <a:cs typeface="+mn-lt"/>
              </a:rPr>
              <a:t>Managing Sports &amp; Events </a:t>
            </a:r>
          </a:p>
          <a:p>
            <a:pPr marL="457200" indent="-457200">
              <a:buFont typeface="Arial"/>
              <a:buChar char="•"/>
            </a:pPr>
            <a:r>
              <a:rPr lang="en-US" sz="3200">
                <a:ea typeface="+mn-lt"/>
                <a:cs typeface="+mn-lt"/>
              </a:rPr>
              <a:t>Bring people together through movement and shared experiences</a:t>
            </a:r>
          </a:p>
          <a:p>
            <a:pPr marL="457200" indent="-457200">
              <a:buFont typeface="Arial"/>
              <a:buChar char="•"/>
            </a:pPr>
            <a:r>
              <a:rPr lang="en-US" sz="3200" err="1">
                <a:ea typeface="+mn-lt"/>
                <a:cs typeface="+mn-lt"/>
              </a:rPr>
              <a:t>Vicaris</a:t>
            </a:r>
            <a:r>
              <a:rPr lang="en-US" sz="3200">
                <a:ea typeface="+mn-lt"/>
                <a:cs typeface="+mn-lt"/>
              </a:rPr>
              <a:t> Village, a 3-day festival they organize in </a:t>
            </a:r>
            <a:r>
              <a:rPr lang="en-US" sz="3200" err="1">
                <a:ea typeface="+mn-lt"/>
                <a:cs typeface="+mn-lt"/>
              </a:rPr>
              <a:t>Dendermonde</a:t>
            </a:r>
            <a:endParaRPr lang="en-US" sz="3200">
              <a:ea typeface="+mn-lt"/>
              <a:cs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D2AC80-BF3E-F83D-E9CC-CF9C4649D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7893" y="5757080"/>
            <a:ext cx="5102267" cy="29220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25165" y="3893230"/>
            <a:ext cx="2381250" cy="426674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endParaRPr sz="2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2450" dirty="0">
              <a:latin typeface="Times New Roman"/>
              <a:cs typeface="Times New Roman"/>
            </a:endParaRPr>
          </a:p>
          <a:p>
            <a:pPr algn="ctr">
              <a:lnSpc>
                <a:spcPts val="2930"/>
              </a:lnSpc>
              <a:spcBef>
                <a:spcPts val="5"/>
              </a:spcBef>
            </a:pPr>
            <a:r>
              <a:rPr lang="en-US" sz="2450" spc="195" dirty="0">
                <a:solidFill>
                  <a:srgbClr val="FFFAFA"/>
                </a:solidFill>
                <a:latin typeface="Trebuchet MS"/>
                <a:cs typeface="Trebuchet MS"/>
              </a:rPr>
              <a:t>Korneel</a:t>
            </a:r>
            <a:endParaRPr sz="2450" spc="195" dirty="0">
              <a:solidFill>
                <a:srgbClr val="FFFAFA"/>
              </a:solidFill>
              <a:latin typeface="Trebuchet MS"/>
              <a:cs typeface="Trebuchet MS"/>
            </a:endParaRPr>
          </a:p>
          <a:p>
            <a:pPr algn="ctr">
              <a:lnSpc>
                <a:spcPts val="2930"/>
              </a:lnSpc>
              <a:spcBef>
                <a:spcPts val="5"/>
              </a:spcBef>
            </a:pPr>
            <a:r>
              <a:rPr lang="en-US" sz="2450" spc="195" dirty="0" err="1">
                <a:solidFill>
                  <a:srgbClr val="FFFAFA"/>
                </a:solidFill>
                <a:latin typeface="Trebuchet MS"/>
                <a:cs typeface="Trebuchet MS"/>
              </a:rPr>
              <a:t>Pennewaert</a:t>
            </a:r>
            <a:endParaRPr lang="en-US" sz="2450" spc="195" dirty="0">
              <a:solidFill>
                <a:srgbClr val="FFFAFA"/>
              </a:solidFill>
              <a:latin typeface="Trebuchet MS"/>
            </a:endParaRPr>
          </a:p>
          <a:p>
            <a:pPr algn="ctr">
              <a:lnSpc>
                <a:spcPts val="2930"/>
              </a:lnSpc>
              <a:spcBef>
                <a:spcPts val="5"/>
              </a:spcBef>
            </a:pPr>
            <a:r>
              <a:rPr lang="nl-BE" sz="2250" spc="145" err="1">
                <a:solidFill>
                  <a:srgbClr val="4AD0FA"/>
                </a:solidFill>
                <a:latin typeface="Trebuchet MS"/>
              </a:rPr>
              <a:t>Frontend</a:t>
            </a:r>
            <a:r>
              <a:rPr lang="nl-BE" sz="2250" spc="145" dirty="0">
                <a:solidFill>
                  <a:srgbClr val="4AD0FA"/>
                </a:solidFill>
                <a:latin typeface="Trebuchet MS"/>
              </a:rPr>
              <a:t> Developer</a:t>
            </a:r>
            <a:endParaRPr lang="en-US" sz="2450" spc="195" dirty="0">
              <a:solidFill>
                <a:srgbClr val="FFFAFA"/>
              </a:solidFill>
              <a:latin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9099" y="3880405"/>
            <a:ext cx="2381250" cy="438325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2450">
              <a:latin typeface="Times New Roman"/>
              <a:cs typeface="Times New Roman"/>
            </a:endParaRPr>
          </a:p>
          <a:p>
            <a:pPr marL="115570" algn="ctr">
              <a:lnSpc>
                <a:spcPts val="2930"/>
              </a:lnSpc>
              <a:spcBef>
                <a:spcPts val="5"/>
              </a:spcBef>
            </a:pPr>
            <a:r>
              <a:rPr lang="en-US" sz="2450" spc="70">
                <a:solidFill>
                  <a:srgbClr val="FFFAFA"/>
                </a:solidFill>
                <a:latin typeface="Trebuchet MS"/>
              </a:rPr>
              <a:t>Judith Ceuppens</a:t>
            </a:r>
            <a:endParaRPr/>
          </a:p>
          <a:p>
            <a:pPr marL="572770" marR="571500" indent="55880">
              <a:lnSpc>
                <a:spcPts val="2650"/>
              </a:lnSpc>
              <a:spcBef>
                <a:spcPts val="1060"/>
              </a:spcBef>
            </a:pPr>
            <a:r>
              <a:rPr sz="2250" spc="100">
                <a:solidFill>
                  <a:srgbClr val="4AD0FA"/>
                </a:solidFill>
                <a:latin typeface="Trebuchet MS"/>
                <a:cs typeface="Trebuchet MS"/>
              </a:rPr>
              <a:t>General </a:t>
            </a:r>
            <a:r>
              <a:rPr sz="2250" spc="155">
                <a:solidFill>
                  <a:srgbClr val="4AD0FA"/>
                </a:solidFill>
                <a:latin typeface="Trebuchet MS"/>
                <a:cs typeface="Trebuchet MS"/>
              </a:rPr>
              <a:t>Manager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62247" y="3889931"/>
            <a:ext cx="3071600" cy="438325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2450">
              <a:latin typeface="Times New Roman"/>
              <a:cs typeface="Times New Roman"/>
            </a:endParaRPr>
          </a:p>
          <a:p>
            <a:pPr marL="544195" marR="589915" indent="207010" algn="ctr">
              <a:lnSpc>
                <a:spcPts val="2930"/>
              </a:lnSpc>
            </a:pPr>
            <a:r>
              <a:rPr lang="en-US" sz="2400" spc="235">
                <a:solidFill>
                  <a:srgbClr val="FFFAFA"/>
                </a:solidFill>
                <a:latin typeface="Trebuchet MS"/>
                <a:cs typeface="Trebuchet MS"/>
              </a:rPr>
              <a:t>Louis Van Linden</a:t>
            </a:r>
          </a:p>
          <a:p>
            <a:pPr marL="507365" marR="663575" indent="-19050" algn="ctr">
              <a:lnSpc>
                <a:spcPts val="2650"/>
              </a:lnSpc>
              <a:spcBef>
                <a:spcPts val="1410"/>
              </a:spcBef>
            </a:pPr>
            <a:r>
              <a:rPr lang="en-US" sz="2250" spc="120">
                <a:solidFill>
                  <a:srgbClr val="4AD0FA"/>
                </a:solidFill>
                <a:latin typeface="Trebuchet MS"/>
                <a:cs typeface="Trebuchet MS"/>
              </a:rPr>
              <a:t>Backend Engineer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368651" y="3893230"/>
            <a:ext cx="2381250" cy="437042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2450">
              <a:latin typeface="Times New Roman"/>
              <a:cs typeface="Times New Roman"/>
            </a:endParaRPr>
          </a:p>
          <a:p>
            <a:pPr marL="217170" marR="286385" algn="ctr">
              <a:lnSpc>
                <a:spcPts val="2930"/>
              </a:lnSpc>
            </a:pPr>
            <a:r>
              <a:rPr lang="en-US" sz="2450" spc="140">
                <a:solidFill>
                  <a:srgbClr val="FFFAFA"/>
                </a:solidFill>
                <a:latin typeface="Trebuchet MS"/>
                <a:cs typeface="Trebuchet MS"/>
              </a:rPr>
              <a:t>Kasper</a:t>
            </a:r>
            <a:endParaRPr sz="2450" spc="140">
              <a:solidFill>
                <a:srgbClr val="FFFAFA"/>
              </a:solidFill>
              <a:latin typeface="Trebuchet MS"/>
              <a:cs typeface="Trebuchet MS"/>
            </a:endParaRPr>
          </a:p>
          <a:p>
            <a:pPr marL="217170" marR="286385" algn="ctr">
              <a:lnSpc>
                <a:spcPts val="2930"/>
              </a:lnSpc>
            </a:pPr>
            <a:r>
              <a:rPr lang="en-US" sz="2450" spc="140">
                <a:solidFill>
                  <a:srgbClr val="FFFAFA"/>
                </a:solidFill>
                <a:latin typeface="Trebuchet MS"/>
                <a:cs typeface="Trebuchet MS"/>
              </a:rPr>
              <a:t>De Vos</a:t>
            </a:r>
          </a:p>
          <a:p>
            <a:pPr marR="68580" algn="ctr">
              <a:spcBef>
                <a:spcPts val="869"/>
              </a:spcBef>
            </a:pPr>
            <a:r>
              <a:rPr lang="en-US" sz="2250" spc="204">
                <a:solidFill>
                  <a:srgbClr val="4AD0FA"/>
                </a:solidFill>
                <a:latin typeface="Trebuchet MS"/>
                <a:cs typeface="Trebuchet MS"/>
              </a:rPr>
              <a:t>Database Architect</a:t>
            </a:r>
            <a:endParaRPr sz="2250" spc="204">
              <a:solidFill>
                <a:srgbClr val="4AD0FA"/>
              </a:solidFill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55847" y="3893230"/>
            <a:ext cx="2381250" cy="450892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endParaRPr sz="2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2450" dirty="0">
              <a:latin typeface="Times New Roman"/>
              <a:cs typeface="Times New Roman"/>
            </a:endParaRPr>
          </a:p>
          <a:p>
            <a:pPr marL="6985" algn="ctr"/>
            <a:r>
              <a:rPr lang="en-US" sz="2450" spc="125" dirty="0">
                <a:solidFill>
                  <a:srgbClr val="FFFAFA"/>
                </a:solidFill>
                <a:latin typeface="Trebuchet MS"/>
              </a:rPr>
              <a:t>Arjen </a:t>
            </a:r>
            <a:endParaRPr lang="en-US" dirty="0">
              <a:solidFill>
                <a:srgbClr val="EFBF2E"/>
              </a:solidFill>
              <a:latin typeface="Aptos" panose="02110004020202020204"/>
            </a:endParaRPr>
          </a:p>
          <a:p>
            <a:pPr marL="6985" algn="ctr"/>
            <a:r>
              <a:rPr lang="en-US" sz="2450" spc="125" dirty="0">
                <a:solidFill>
                  <a:srgbClr val="FFFAFA"/>
                </a:solidFill>
                <a:latin typeface="Trebuchet MS"/>
              </a:rPr>
              <a:t>Sap</a:t>
            </a:r>
            <a:endParaRPr dirty="0"/>
          </a:p>
          <a:p>
            <a:pPr marL="472440" marR="542290" indent="-5080">
              <a:lnSpc>
                <a:spcPts val="2650"/>
              </a:lnSpc>
              <a:spcBef>
                <a:spcPts val="2055"/>
              </a:spcBef>
            </a:pPr>
            <a:r>
              <a:rPr sz="2250" spc="165" dirty="0">
                <a:solidFill>
                  <a:srgbClr val="4AD0FA"/>
                </a:solidFill>
                <a:latin typeface="Trebuchet MS"/>
                <a:cs typeface="Trebuchet MS"/>
              </a:rPr>
              <a:t>Database </a:t>
            </a:r>
            <a:r>
              <a:rPr sz="2250" spc="130" dirty="0">
                <a:solidFill>
                  <a:srgbClr val="4AD0FA"/>
                </a:solidFill>
                <a:latin typeface="Trebuchet MS"/>
                <a:cs typeface="Trebuchet MS"/>
              </a:rPr>
              <a:t>Architect</a:t>
            </a:r>
            <a:endParaRPr sz="2250" dirty="0">
              <a:latin typeface="Trebuchet MS"/>
              <a:cs typeface="Trebuchet M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2DFD6D-2935-18C5-97C1-C8CE22318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0018" y="4259262"/>
            <a:ext cx="1905000" cy="1905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822087-7491-AB3C-98F5-08D74DEF4367}"/>
              </a:ext>
            </a:extLst>
          </p:cNvPr>
          <p:cNvSpPr txBox="1"/>
          <p:nvPr/>
        </p:nvSpPr>
        <p:spPr>
          <a:xfrm>
            <a:off x="1323086" y="651042"/>
            <a:ext cx="15352003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0" b="1">
                <a:latin typeface="Arial"/>
                <a:ea typeface="+mj-ea"/>
                <a:cs typeface="Arial"/>
              </a:rPr>
              <a:t>Our Team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19422C-A69E-8C41-73D9-78929F73C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1747" y="4167770"/>
            <a:ext cx="2144960" cy="19799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E875ADC-810F-327D-4581-96E582EF45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5461" y="4281684"/>
            <a:ext cx="1920658" cy="19363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AEBAC18-4F35-CEDA-C654-ED3D5967BD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98694" y="4256893"/>
            <a:ext cx="1914133" cy="1961105"/>
          </a:xfrm>
          <a:prstGeom prst="rect">
            <a:avLst/>
          </a:prstGeom>
        </p:spPr>
      </p:pic>
      <p:pic>
        <p:nvPicPr>
          <p:cNvPr id="8" name="Afbeelding 7" descr="Afbeelding met persoon, glimlach, Menselijk gezicht, muur&#10;&#10;Door AI gegenereerde inhoud is mogelijk onjuist.">
            <a:extLst>
              <a:ext uri="{FF2B5EF4-FFF2-40B4-BE49-F238E27FC236}">
                <a16:creationId xmlns:a16="http://schemas.microsoft.com/office/drawing/2014/main" id="{A1E20243-B095-AEAC-657C-AC840C1FA8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09" t="8801" r="21517" b="8801"/>
          <a:stretch>
            <a:fillRect/>
          </a:stretch>
        </p:blipFill>
        <p:spPr>
          <a:xfrm rot="5400000">
            <a:off x="1310219" y="4187868"/>
            <a:ext cx="1920658" cy="21396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D3A2B-7AEB-6CAA-B718-13B81E141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5FDD-0E77-5891-C8C8-FC7760DD6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Beginning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1E06C-F491-3DB0-5CCF-22660EECC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Had to find own business</a:t>
            </a:r>
          </a:p>
          <a:p>
            <a:r>
              <a:rPr lang="en-US" dirty="0" err="1"/>
              <a:t>Maspoe</a:t>
            </a:r>
            <a:r>
              <a:rPr lang="en-US" dirty="0"/>
              <a:t> wanted site</a:t>
            </a:r>
          </a:p>
          <a:p>
            <a:r>
              <a:rPr lang="en-US" dirty="0"/>
              <a:t>Settled on poll system </a:t>
            </a:r>
            <a:r>
              <a:rPr lang="en-US" dirty="0">
                <a:sym typeface="Wingdings" panose="05000000000000000000" pitchFamily="2" charset="2"/>
              </a:rPr>
              <a:t> didn’t know which artists to book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010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59489" y="4196081"/>
            <a:ext cx="947419" cy="947419"/>
          </a:xfrm>
          <a:custGeom>
            <a:avLst/>
            <a:gdLst/>
            <a:ahLst/>
            <a:cxnLst/>
            <a:rect l="l" t="t" r="r" b="b"/>
            <a:pathLst>
              <a:path w="947419" h="947420">
                <a:moveTo>
                  <a:pt x="473422" y="946844"/>
                </a:moveTo>
                <a:lnTo>
                  <a:pt x="425017" y="944400"/>
                </a:lnTo>
                <a:lnTo>
                  <a:pt x="378010" y="937226"/>
                </a:lnTo>
                <a:lnTo>
                  <a:pt x="332640" y="925560"/>
                </a:lnTo>
                <a:lnTo>
                  <a:pt x="289144" y="909640"/>
                </a:lnTo>
                <a:lnTo>
                  <a:pt x="247760" y="889704"/>
                </a:lnTo>
                <a:lnTo>
                  <a:pt x="208727" y="865991"/>
                </a:lnTo>
                <a:lnTo>
                  <a:pt x="172281" y="838737"/>
                </a:lnTo>
                <a:lnTo>
                  <a:pt x="138662" y="808182"/>
                </a:lnTo>
                <a:lnTo>
                  <a:pt x="108106" y="774562"/>
                </a:lnTo>
                <a:lnTo>
                  <a:pt x="80853" y="738117"/>
                </a:lnTo>
                <a:lnTo>
                  <a:pt x="57139" y="699083"/>
                </a:lnTo>
                <a:lnTo>
                  <a:pt x="37203" y="657699"/>
                </a:lnTo>
                <a:lnTo>
                  <a:pt x="21284" y="614203"/>
                </a:lnTo>
                <a:lnTo>
                  <a:pt x="9618" y="568833"/>
                </a:lnTo>
                <a:lnTo>
                  <a:pt x="2444" y="521826"/>
                </a:lnTo>
                <a:lnTo>
                  <a:pt x="0" y="473422"/>
                </a:lnTo>
                <a:lnTo>
                  <a:pt x="2444" y="425017"/>
                </a:lnTo>
                <a:lnTo>
                  <a:pt x="9618" y="378011"/>
                </a:lnTo>
                <a:lnTo>
                  <a:pt x="21284" y="332640"/>
                </a:lnTo>
                <a:lnTo>
                  <a:pt x="37203" y="289144"/>
                </a:lnTo>
                <a:lnTo>
                  <a:pt x="57139" y="247761"/>
                </a:lnTo>
                <a:lnTo>
                  <a:pt x="80853" y="208727"/>
                </a:lnTo>
                <a:lnTo>
                  <a:pt x="108106" y="172281"/>
                </a:lnTo>
                <a:lnTo>
                  <a:pt x="138662" y="138662"/>
                </a:lnTo>
                <a:lnTo>
                  <a:pt x="172281" y="108106"/>
                </a:lnTo>
                <a:lnTo>
                  <a:pt x="208727" y="80853"/>
                </a:lnTo>
                <a:lnTo>
                  <a:pt x="247760" y="57139"/>
                </a:lnTo>
                <a:lnTo>
                  <a:pt x="289144" y="37203"/>
                </a:lnTo>
                <a:lnTo>
                  <a:pt x="332640" y="21284"/>
                </a:lnTo>
                <a:lnTo>
                  <a:pt x="378010" y="9618"/>
                </a:lnTo>
                <a:lnTo>
                  <a:pt x="425017" y="2444"/>
                </a:lnTo>
                <a:lnTo>
                  <a:pt x="473422" y="0"/>
                </a:lnTo>
                <a:lnTo>
                  <a:pt x="521826" y="2444"/>
                </a:lnTo>
                <a:lnTo>
                  <a:pt x="568833" y="9618"/>
                </a:lnTo>
                <a:lnTo>
                  <a:pt x="614203" y="21284"/>
                </a:lnTo>
                <a:lnTo>
                  <a:pt x="657699" y="37203"/>
                </a:lnTo>
                <a:lnTo>
                  <a:pt x="699083" y="57139"/>
                </a:lnTo>
                <a:lnTo>
                  <a:pt x="738116" y="80853"/>
                </a:lnTo>
                <a:lnTo>
                  <a:pt x="774562" y="108106"/>
                </a:lnTo>
                <a:lnTo>
                  <a:pt x="808182" y="138662"/>
                </a:lnTo>
                <a:lnTo>
                  <a:pt x="838737" y="172281"/>
                </a:lnTo>
                <a:lnTo>
                  <a:pt x="865991" y="208727"/>
                </a:lnTo>
                <a:lnTo>
                  <a:pt x="889704" y="247761"/>
                </a:lnTo>
                <a:lnTo>
                  <a:pt x="909640" y="289144"/>
                </a:lnTo>
                <a:lnTo>
                  <a:pt x="925560" y="332640"/>
                </a:lnTo>
                <a:lnTo>
                  <a:pt x="937226" y="378011"/>
                </a:lnTo>
                <a:lnTo>
                  <a:pt x="944400" y="425017"/>
                </a:lnTo>
                <a:lnTo>
                  <a:pt x="946844" y="473422"/>
                </a:lnTo>
                <a:lnTo>
                  <a:pt x="944400" y="521826"/>
                </a:lnTo>
                <a:lnTo>
                  <a:pt x="937226" y="568833"/>
                </a:lnTo>
                <a:lnTo>
                  <a:pt x="925560" y="614203"/>
                </a:lnTo>
                <a:lnTo>
                  <a:pt x="909640" y="657699"/>
                </a:lnTo>
                <a:lnTo>
                  <a:pt x="889704" y="699083"/>
                </a:lnTo>
                <a:lnTo>
                  <a:pt x="865991" y="738117"/>
                </a:lnTo>
                <a:lnTo>
                  <a:pt x="838737" y="774562"/>
                </a:lnTo>
                <a:lnTo>
                  <a:pt x="808182" y="808182"/>
                </a:lnTo>
                <a:lnTo>
                  <a:pt x="774562" y="838737"/>
                </a:lnTo>
                <a:lnTo>
                  <a:pt x="738116" y="865991"/>
                </a:lnTo>
                <a:lnTo>
                  <a:pt x="699083" y="889704"/>
                </a:lnTo>
                <a:lnTo>
                  <a:pt x="657699" y="909640"/>
                </a:lnTo>
                <a:lnTo>
                  <a:pt x="614203" y="925560"/>
                </a:lnTo>
                <a:lnTo>
                  <a:pt x="568833" y="937226"/>
                </a:lnTo>
                <a:lnTo>
                  <a:pt x="521826" y="944400"/>
                </a:lnTo>
                <a:lnTo>
                  <a:pt x="473422" y="946844"/>
                </a:lnTo>
                <a:close/>
              </a:path>
            </a:pathLst>
          </a:custGeom>
          <a:solidFill>
            <a:srgbClr val="F6D7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508888" y="4427887"/>
            <a:ext cx="2476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7013" y="6362927"/>
            <a:ext cx="2800962" cy="671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  <a:tabLst>
                <a:tab pos="2387600" algn="l"/>
              </a:tabLst>
            </a:pPr>
            <a:r>
              <a:rPr lang="en-GB" sz="2400" b="1">
                <a:solidFill>
                  <a:schemeClr val="bg1">
                    <a:lumMod val="10000"/>
                    <a:lumOff val="90000"/>
                  </a:schemeClr>
                </a:solidFill>
                <a:latin typeface="Tahoma"/>
                <a:cs typeface="Tahoma"/>
              </a:rPr>
              <a:t>User Stories</a:t>
            </a:r>
          </a:p>
          <a:p>
            <a:pPr marL="704850">
              <a:lnSpc>
                <a:spcPct val="100000"/>
              </a:lnSpc>
              <a:spcBef>
                <a:spcPts val="100"/>
              </a:spcBef>
              <a:tabLst>
                <a:tab pos="2387600" algn="l"/>
              </a:tabLst>
            </a:pP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37819" y="6310167"/>
            <a:ext cx="212153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GB" sz="2400" b="1">
                <a:solidFill>
                  <a:schemeClr val="bg1">
                    <a:lumMod val="10000"/>
                    <a:lumOff val="90000"/>
                  </a:schemeClr>
                </a:solidFill>
                <a:latin typeface="Tahoma"/>
                <a:cs typeface="Tahoma"/>
              </a:rPr>
              <a:t>Complex algorithm</a:t>
            </a:r>
            <a:endParaRPr sz="2400" b="1">
              <a:solidFill>
                <a:schemeClr val="bg1">
                  <a:lumMod val="10000"/>
                  <a:lumOff val="90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984029" y="4196081"/>
            <a:ext cx="947419" cy="947419"/>
          </a:xfrm>
          <a:custGeom>
            <a:avLst/>
            <a:gdLst/>
            <a:ahLst/>
            <a:cxnLst/>
            <a:rect l="l" t="t" r="r" b="b"/>
            <a:pathLst>
              <a:path w="947420" h="947420">
                <a:moveTo>
                  <a:pt x="473422" y="946844"/>
                </a:moveTo>
                <a:lnTo>
                  <a:pt x="425017" y="944400"/>
                </a:lnTo>
                <a:lnTo>
                  <a:pt x="378011" y="937226"/>
                </a:lnTo>
                <a:lnTo>
                  <a:pt x="332640" y="925560"/>
                </a:lnTo>
                <a:lnTo>
                  <a:pt x="289144" y="909640"/>
                </a:lnTo>
                <a:lnTo>
                  <a:pt x="247761" y="889704"/>
                </a:lnTo>
                <a:lnTo>
                  <a:pt x="208727" y="865991"/>
                </a:lnTo>
                <a:lnTo>
                  <a:pt x="172281" y="838737"/>
                </a:lnTo>
                <a:lnTo>
                  <a:pt x="138662" y="808182"/>
                </a:lnTo>
                <a:lnTo>
                  <a:pt x="108106" y="774562"/>
                </a:lnTo>
                <a:lnTo>
                  <a:pt x="80853" y="738117"/>
                </a:lnTo>
                <a:lnTo>
                  <a:pt x="57139" y="699083"/>
                </a:lnTo>
                <a:lnTo>
                  <a:pt x="37203" y="657699"/>
                </a:lnTo>
                <a:lnTo>
                  <a:pt x="21284" y="614203"/>
                </a:lnTo>
                <a:lnTo>
                  <a:pt x="9618" y="568833"/>
                </a:lnTo>
                <a:lnTo>
                  <a:pt x="2444" y="521826"/>
                </a:lnTo>
                <a:lnTo>
                  <a:pt x="0" y="473422"/>
                </a:lnTo>
                <a:lnTo>
                  <a:pt x="2444" y="425017"/>
                </a:lnTo>
                <a:lnTo>
                  <a:pt x="9618" y="378011"/>
                </a:lnTo>
                <a:lnTo>
                  <a:pt x="21284" y="332640"/>
                </a:lnTo>
                <a:lnTo>
                  <a:pt x="37203" y="289144"/>
                </a:lnTo>
                <a:lnTo>
                  <a:pt x="57139" y="247761"/>
                </a:lnTo>
                <a:lnTo>
                  <a:pt x="80853" y="208727"/>
                </a:lnTo>
                <a:lnTo>
                  <a:pt x="108106" y="172281"/>
                </a:lnTo>
                <a:lnTo>
                  <a:pt x="138662" y="138662"/>
                </a:lnTo>
                <a:lnTo>
                  <a:pt x="172281" y="108106"/>
                </a:lnTo>
                <a:lnTo>
                  <a:pt x="208727" y="80853"/>
                </a:lnTo>
                <a:lnTo>
                  <a:pt x="247761" y="57139"/>
                </a:lnTo>
                <a:lnTo>
                  <a:pt x="289144" y="37203"/>
                </a:lnTo>
                <a:lnTo>
                  <a:pt x="332640" y="21284"/>
                </a:lnTo>
                <a:lnTo>
                  <a:pt x="378011" y="9618"/>
                </a:lnTo>
                <a:lnTo>
                  <a:pt x="425017" y="2444"/>
                </a:lnTo>
                <a:lnTo>
                  <a:pt x="473422" y="0"/>
                </a:lnTo>
                <a:lnTo>
                  <a:pt x="521826" y="2444"/>
                </a:lnTo>
                <a:lnTo>
                  <a:pt x="568833" y="9618"/>
                </a:lnTo>
                <a:lnTo>
                  <a:pt x="614203" y="21284"/>
                </a:lnTo>
                <a:lnTo>
                  <a:pt x="657699" y="37203"/>
                </a:lnTo>
                <a:lnTo>
                  <a:pt x="699083" y="57139"/>
                </a:lnTo>
                <a:lnTo>
                  <a:pt x="738117" y="80853"/>
                </a:lnTo>
                <a:lnTo>
                  <a:pt x="774562" y="108106"/>
                </a:lnTo>
                <a:lnTo>
                  <a:pt x="808182" y="138662"/>
                </a:lnTo>
                <a:lnTo>
                  <a:pt x="838737" y="172281"/>
                </a:lnTo>
                <a:lnTo>
                  <a:pt x="865991" y="208727"/>
                </a:lnTo>
                <a:lnTo>
                  <a:pt x="889704" y="247761"/>
                </a:lnTo>
                <a:lnTo>
                  <a:pt x="909640" y="289144"/>
                </a:lnTo>
                <a:lnTo>
                  <a:pt x="925560" y="332640"/>
                </a:lnTo>
                <a:lnTo>
                  <a:pt x="937226" y="378011"/>
                </a:lnTo>
                <a:lnTo>
                  <a:pt x="944400" y="425017"/>
                </a:lnTo>
                <a:lnTo>
                  <a:pt x="946844" y="473422"/>
                </a:lnTo>
                <a:lnTo>
                  <a:pt x="944400" y="521826"/>
                </a:lnTo>
                <a:lnTo>
                  <a:pt x="937226" y="568833"/>
                </a:lnTo>
                <a:lnTo>
                  <a:pt x="925560" y="614203"/>
                </a:lnTo>
                <a:lnTo>
                  <a:pt x="909640" y="657699"/>
                </a:lnTo>
                <a:lnTo>
                  <a:pt x="889704" y="699083"/>
                </a:lnTo>
                <a:lnTo>
                  <a:pt x="865991" y="738117"/>
                </a:lnTo>
                <a:lnTo>
                  <a:pt x="838737" y="774562"/>
                </a:lnTo>
                <a:lnTo>
                  <a:pt x="808182" y="808182"/>
                </a:lnTo>
                <a:lnTo>
                  <a:pt x="774562" y="838737"/>
                </a:lnTo>
                <a:lnTo>
                  <a:pt x="738117" y="865991"/>
                </a:lnTo>
                <a:lnTo>
                  <a:pt x="699083" y="889704"/>
                </a:lnTo>
                <a:lnTo>
                  <a:pt x="657699" y="909640"/>
                </a:lnTo>
                <a:lnTo>
                  <a:pt x="614203" y="925560"/>
                </a:lnTo>
                <a:lnTo>
                  <a:pt x="568833" y="937226"/>
                </a:lnTo>
                <a:lnTo>
                  <a:pt x="521826" y="944400"/>
                </a:lnTo>
                <a:lnTo>
                  <a:pt x="473422" y="946844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33387" y="4410612"/>
            <a:ext cx="2476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670290" y="4196081"/>
            <a:ext cx="947419" cy="947419"/>
          </a:xfrm>
          <a:custGeom>
            <a:avLst/>
            <a:gdLst/>
            <a:ahLst/>
            <a:cxnLst/>
            <a:rect l="l" t="t" r="r" b="b"/>
            <a:pathLst>
              <a:path w="947420" h="947420">
                <a:moveTo>
                  <a:pt x="473422" y="946844"/>
                </a:moveTo>
                <a:lnTo>
                  <a:pt x="425017" y="944400"/>
                </a:lnTo>
                <a:lnTo>
                  <a:pt x="378011" y="937226"/>
                </a:lnTo>
                <a:lnTo>
                  <a:pt x="332640" y="925560"/>
                </a:lnTo>
                <a:lnTo>
                  <a:pt x="289144" y="909640"/>
                </a:lnTo>
                <a:lnTo>
                  <a:pt x="247761" y="889704"/>
                </a:lnTo>
                <a:lnTo>
                  <a:pt x="208727" y="865991"/>
                </a:lnTo>
                <a:lnTo>
                  <a:pt x="172281" y="838737"/>
                </a:lnTo>
                <a:lnTo>
                  <a:pt x="138662" y="808182"/>
                </a:lnTo>
                <a:lnTo>
                  <a:pt x="108106" y="774562"/>
                </a:lnTo>
                <a:lnTo>
                  <a:pt x="80853" y="738117"/>
                </a:lnTo>
                <a:lnTo>
                  <a:pt x="57139" y="699083"/>
                </a:lnTo>
                <a:lnTo>
                  <a:pt x="37203" y="657699"/>
                </a:lnTo>
                <a:lnTo>
                  <a:pt x="21284" y="614203"/>
                </a:lnTo>
                <a:lnTo>
                  <a:pt x="9618" y="568833"/>
                </a:lnTo>
                <a:lnTo>
                  <a:pt x="2444" y="521826"/>
                </a:lnTo>
                <a:lnTo>
                  <a:pt x="0" y="473422"/>
                </a:lnTo>
                <a:lnTo>
                  <a:pt x="2444" y="425017"/>
                </a:lnTo>
                <a:lnTo>
                  <a:pt x="9618" y="378011"/>
                </a:lnTo>
                <a:lnTo>
                  <a:pt x="21284" y="332640"/>
                </a:lnTo>
                <a:lnTo>
                  <a:pt x="37203" y="289144"/>
                </a:lnTo>
                <a:lnTo>
                  <a:pt x="57139" y="247761"/>
                </a:lnTo>
                <a:lnTo>
                  <a:pt x="80853" y="208727"/>
                </a:lnTo>
                <a:lnTo>
                  <a:pt x="108106" y="172281"/>
                </a:lnTo>
                <a:lnTo>
                  <a:pt x="138662" y="138662"/>
                </a:lnTo>
                <a:lnTo>
                  <a:pt x="172281" y="108106"/>
                </a:lnTo>
                <a:lnTo>
                  <a:pt x="208727" y="80853"/>
                </a:lnTo>
                <a:lnTo>
                  <a:pt x="247761" y="57139"/>
                </a:lnTo>
                <a:lnTo>
                  <a:pt x="289144" y="37203"/>
                </a:lnTo>
                <a:lnTo>
                  <a:pt x="332640" y="21284"/>
                </a:lnTo>
                <a:lnTo>
                  <a:pt x="378011" y="9618"/>
                </a:lnTo>
                <a:lnTo>
                  <a:pt x="425017" y="2444"/>
                </a:lnTo>
                <a:lnTo>
                  <a:pt x="473422" y="0"/>
                </a:lnTo>
                <a:lnTo>
                  <a:pt x="521826" y="2444"/>
                </a:lnTo>
                <a:lnTo>
                  <a:pt x="568833" y="9618"/>
                </a:lnTo>
                <a:lnTo>
                  <a:pt x="614203" y="21284"/>
                </a:lnTo>
                <a:lnTo>
                  <a:pt x="657699" y="37203"/>
                </a:lnTo>
                <a:lnTo>
                  <a:pt x="699083" y="57139"/>
                </a:lnTo>
                <a:lnTo>
                  <a:pt x="738117" y="80853"/>
                </a:lnTo>
                <a:lnTo>
                  <a:pt x="774562" y="108106"/>
                </a:lnTo>
                <a:lnTo>
                  <a:pt x="808182" y="138662"/>
                </a:lnTo>
                <a:lnTo>
                  <a:pt x="838737" y="172281"/>
                </a:lnTo>
                <a:lnTo>
                  <a:pt x="865991" y="208727"/>
                </a:lnTo>
                <a:lnTo>
                  <a:pt x="889705" y="247761"/>
                </a:lnTo>
                <a:lnTo>
                  <a:pt x="909640" y="289144"/>
                </a:lnTo>
                <a:lnTo>
                  <a:pt x="925560" y="332640"/>
                </a:lnTo>
                <a:lnTo>
                  <a:pt x="937226" y="378011"/>
                </a:lnTo>
                <a:lnTo>
                  <a:pt x="944400" y="425017"/>
                </a:lnTo>
                <a:lnTo>
                  <a:pt x="946844" y="473422"/>
                </a:lnTo>
                <a:lnTo>
                  <a:pt x="944400" y="521826"/>
                </a:lnTo>
                <a:lnTo>
                  <a:pt x="937226" y="568833"/>
                </a:lnTo>
                <a:lnTo>
                  <a:pt x="925560" y="614203"/>
                </a:lnTo>
                <a:lnTo>
                  <a:pt x="909640" y="657699"/>
                </a:lnTo>
                <a:lnTo>
                  <a:pt x="889705" y="699083"/>
                </a:lnTo>
                <a:lnTo>
                  <a:pt x="865991" y="738117"/>
                </a:lnTo>
                <a:lnTo>
                  <a:pt x="838737" y="774562"/>
                </a:lnTo>
                <a:lnTo>
                  <a:pt x="808182" y="808182"/>
                </a:lnTo>
                <a:lnTo>
                  <a:pt x="774562" y="838737"/>
                </a:lnTo>
                <a:lnTo>
                  <a:pt x="738117" y="865991"/>
                </a:lnTo>
                <a:lnTo>
                  <a:pt x="699083" y="889704"/>
                </a:lnTo>
                <a:lnTo>
                  <a:pt x="657699" y="909640"/>
                </a:lnTo>
                <a:lnTo>
                  <a:pt x="614203" y="925560"/>
                </a:lnTo>
                <a:lnTo>
                  <a:pt x="568833" y="937226"/>
                </a:lnTo>
                <a:lnTo>
                  <a:pt x="521826" y="944400"/>
                </a:lnTo>
                <a:lnTo>
                  <a:pt x="473422" y="946844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019688" y="4427887"/>
            <a:ext cx="2476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425690" y="4196081"/>
            <a:ext cx="947419" cy="947419"/>
          </a:xfrm>
          <a:custGeom>
            <a:avLst/>
            <a:gdLst/>
            <a:ahLst/>
            <a:cxnLst/>
            <a:rect l="l" t="t" r="r" b="b"/>
            <a:pathLst>
              <a:path w="947420" h="947420">
                <a:moveTo>
                  <a:pt x="473422" y="946844"/>
                </a:moveTo>
                <a:lnTo>
                  <a:pt x="425017" y="944400"/>
                </a:lnTo>
                <a:lnTo>
                  <a:pt x="378011" y="937226"/>
                </a:lnTo>
                <a:lnTo>
                  <a:pt x="332640" y="925560"/>
                </a:lnTo>
                <a:lnTo>
                  <a:pt x="289144" y="909640"/>
                </a:lnTo>
                <a:lnTo>
                  <a:pt x="247761" y="889704"/>
                </a:lnTo>
                <a:lnTo>
                  <a:pt x="208727" y="865991"/>
                </a:lnTo>
                <a:lnTo>
                  <a:pt x="172281" y="838737"/>
                </a:lnTo>
                <a:lnTo>
                  <a:pt x="138662" y="808182"/>
                </a:lnTo>
                <a:lnTo>
                  <a:pt x="108106" y="774562"/>
                </a:lnTo>
                <a:lnTo>
                  <a:pt x="80853" y="738117"/>
                </a:lnTo>
                <a:lnTo>
                  <a:pt x="57139" y="699083"/>
                </a:lnTo>
                <a:lnTo>
                  <a:pt x="37203" y="657699"/>
                </a:lnTo>
                <a:lnTo>
                  <a:pt x="21284" y="614203"/>
                </a:lnTo>
                <a:lnTo>
                  <a:pt x="9618" y="568833"/>
                </a:lnTo>
                <a:lnTo>
                  <a:pt x="2444" y="521826"/>
                </a:lnTo>
                <a:lnTo>
                  <a:pt x="0" y="473422"/>
                </a:lnTo>
                <a:lnTo>
                  <a:pt x="2444" y="425017"/>
                </a:lnTo>
                <a:lnTo>
                  <a:pt x="9618" y="378011"/>
                </a:lnTo>
                <a:lnTo>
                  <a:pt x="21284" y="332640"/>
                </a:lnTo>
                <a:lnTo>
                  <a:pt x="37203" y="289144"/>
                </a:lnTo>
                <a:lnTo>
                  <a:pt x="57139" y="247761"/>
                </a:lnTo>
                <a:lnTo>
                  <a:pt x="80853" y="208727"/>
                </a:lnTo>
                <a:lnTo>
                  <a:pt x="108106" y="172281"/>
                </a:lnTo>
                <a:lnTo>
                  <a:pt x="138662" y="138662"/>
                </a:lnTo>
                <a:lnTo>
                  <a:pt x="172281" y="108106"/>
                </a:lnTo>
                <a:lnTo>
                  <a:pt x="208727" y="80853"/>
                </a:lnTo>
                <a:lnTo>
                  <a:pt x="247761" y="57139"/>
                </a:lnTo>
                <a:lnTo>
                  <a:pt x="289144" y="37203"/>
                </a:lnTo>
                <a:lnTo>
                  <a:pt x="332640" y="21284"/>
                </a:lnTo>
                <a:lnTo>
                  <a:pt x="378011" y="9618"/>
                </a:lnTo>
                <a:lnTo>
                  <a:pt x="425017" y="2444"/>
                </a:lnTo>
                <a:lnTo>
                  <a:pt x="473422" y="0"/>
                </a:lnTo>
                <a:lnTo>
                  <a:pt x="521826" y="2444"/>
                </a:lnTo>
                <a:lnTo>
                  <a:pt x="568833" y="9618"/>
                </a:lnTo>
                <a:lnTo>
                  <a:pt x="614203" y="21284"/>
                </a:lnTo>
                <a:lnTo>
                  <a:pt x="657699" y="37203"/>
                </a:lnTo>
                <a:lnTo>
                  <a:pt x="699083" y="57139"/>
                </a:lnTo>
                <a:lnTo>
                  <a:pt x="738117" y="80853"/>
                </a:lnTo>
                <a:lnTo>
                  <a:pt x="774562" y="108106"/>
                </a:lnTo>
                <a:lnTo>
                  <a:pt x="808182" y="138662"/>
                </a:lnTo>
                <a:lnTo>
                  <a:pt x="838737" y="172281"/>
                </a:lnTo>
                <a:lnTo>
                  <a:pt x="865991" y="208727"/>
                </a:lnTo>
                <a:lnTo>
                  <a:pt x="889705" y="247761"/>
                </a:lnTo>
                <a:lnTo>
                  <a:pt x="909640" y="289144"/>
                </a:lnTo>
                <a:lnTo>
                  <a:pt x="925560" y="332640"/>
                </a:lnTo>
                <a:lnTo>
                  <a:pt x="937226" y="378011"/>
                </a:lnTo>
                <a:lnTo>
                  <a:pt x="944400" y="425017"/>
                </a:lnTo>
                <a:lnTo>
                  <a:pt x="946844" y="473422"/>
                </a:lnTo>
                <a:lnTo>
                  <a:pt x="944400" y="521826"/>
                </a:lnTo>
                <a:lnTo>
                  <a:pt x="937226" y="568833"/>
                </a:lnTo>
                <a:lnTo>
                  <a:pt x="925560" y="614203"/>
                </a:lnTo>
                <a:lnTo>
                  <a:pt x="909640" y="657699"/>
                </a:lnTo>
                <a:lnTo>
                  <a:pt x="889705" y="699083"/>
                </a:lnTo>
                <a:lnTo>
                  <a:pt x="865991" y="738117"/>
                </a:lnTo>
                <a:lnTo>
                  <a:pt x="838737" y="774562"/>
                </a:lnTo>
                <a:lnTo>
                  <a:pt x="808182" y="808182"/>
                </a:lnTo>
                <a:lnTo>
                  <a:pt x="774562" y="838737"/>
                </a:lnTo>
                <a:lnTo>
                  <a:pt x="738117" y="865991"/>
                </a:lnTo>
                <a:lnTo>
                  <a:pt x="699083" y="889704"/>
                </a:lnTo>
                <a:lnTo>
                  <a:pt x="657699" y="909640"/>
                </a:lnTo>
                <a:lnTo>
                  <a:pt x="614203" y="925560"/>
                </a:lnTo>
                <a:lnTo>
                  <a:pt x="568833" y="937226"/>
                </a:lnTo>
                <a:lnTo>
                  <a:pt x="521826" y="944400"/>
                </a:lnTo>
                <a:lnTo>
                  <a:pt x="473422" y="946844"/>
                </a:lnTo>
                <a:close/>
              </a:path>
            </a:pathLst>
          </a:custGeom>
          <a:solidFill>
            <a:schemeClr val="tx1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75088" y="4427887"/>
            <a:ext cx="2476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4181089" y="4196081"/>
            <a:ext cx="947419" cy="947419"/>
          </a:xfrm>
          <a:custGeom>
            <a:avLst/>
            <a:gdLst/>
            <a:ahLst/>
            <a:cxnLst/>
            <a:rect l="l" t="t" r="r" b="b"/>
            <a:pathLst>
              <a:path w="947419" h="947420">
                <a:moveTo>
                  <a:pt x="473422" y="946844"/>
                </a:moveTo>
                <a:lnTo>
                  <a:pt x="425017" y="944400"/>
                </a:lnTo>
                <a:lnTo>
                  <a:pt x="378011" y="937226"/>
                </a:lnTo>
                <a:lnTo>
                  <a:pt x="332640" y="925560"/>
                </a:lnTo>
                <a:lnTo>
                  <a:pt x="289144" y="909640"/>
                </a:lnTo>
                <a:lnTo>
                  <a:pt x="247760" y="889704"/>
                </a:lnTo>
                <a:lnTo>
                  <a:pt x="208727" y="865991"/>
                </a:lnTo>
                <a:lnTo>
                  <a:pt x="172281" y="838737"/>
                </a:lnTo>
                <a:lnTo>
                  <a:pt x="138662" y="808182"/>
                </a:lnTo>
                <a:lnTo>
                  <a:pt x="108106" y="774562"/>
                </a:lnTo>
                <a:lnTo>
                  <a:pt x="80852" y="738117"/>
                </a:lnTo>
                <a:lnTo>
                  <a:pt x="57139" y="699083"/>
                </a:lnTo>
                <a:lnTo>
                  <a:pt x="37203" y="657699"/>
                </a:lnTo>
                <a:lnTo>
                  <a:pt x="21284" y="614203"/>
                </a:lnTo>
                <a:lnTo>
                  <a:pt x="9618" y="568833"/>
                </a:lnTo>
                <a:lnTo>
                  <a:pt x="2444" y="521826"/>
                </a:lnTo>
                <a:lnTo>
                  <a:pt x="0" y="473422"/>
                </a:lnTo>
                <a:lnTo>
                  <a:pt x="2444" y="425017"/>
                </a:lnTo>
                <a:lnTo>
                  <a:pt x="9618" y="378011"/>
                </a:lnTo>
                <a:lnTo>
                  <a:pt x="21284" y="332640"/>
                </a:lnTo>
                <a:lnTo>
                  <a:pt x="37203" y="289144"/>
                </a:lnTo>
                <a:lnTo>
                  <a:pt x="57139" y="247761"/>
                </a:lnTo>
                <a:lnTo>
                  <a:pt x="80852" y="208727"/>
                </a:lnTo>
                <a:lnTo>
                  <a:pt x="108106" y="172281"/>
                </a:lnTo>
                <a:lnTo>
                  <a:pt x="138662" y="138662"/>
                </a:lnTo>
                <a:lnTo>
                  <a:pt x="172281" y="108106"/>
                </a:lnTo>
                <a:lnTo>
                  <a:pt x="208727" y="80853"/>
                </a:lnTo>
                <a:lnTo>
                  <a:pt x="247760" y="57139"/>
                </a:lnTo>
                <a:lnTo>
                  <a:pt x="289144" y="37203"/>
                </a:lnTo>
                <a:lnTo>
                  <a:pt x="332640" y="21284"/>
                </a:lnTo>
                <a:lnTo>
                  <a:pt x="378011" y="9618"/>
                </a:lnTo>
                <a:lnTo>
                  <a:pt x="425017" y="2444"/>
                </a:lnTo>
                <a:lnTo>
                  <a:pt x="473422" y="0"/>
                </a:lnTo>
                <a:lnTo>
                  <a:pt x="521827" y="2444"/>
                </a:lnTo>
                <a:lnTo>
                  <a:pt x="568833" y="9618"/>
                </a:lnTo>
                <a:lnTo>
                  <a:pt x="614203" y="21284"/>
                </a:lnTo>
                <a:lnTo>
                  <a:pt x="657699" y="37203"/>
                </a:lnTo>
                <a:lnTo>
                  <a:pt x="699083" y="57139"/>
                </a:lnTo>
                <a:lnTo>
                  <a:pt x="738117" y="80853"/>
                </a:lnTo>
                <a:lnTo>
                  <a:pt x="774562" y="108106"/>
                </a:lnTo>
                <a:lnTo>
                  <a:pt x="808182" y="138662"/>
                </a:lnTo>
                <a:lnTo>
                  <a:pt x="838737" y="172281"/>
                </a:lnTo>
                <a:lnTo>
                  <a:pt x="865991" y="208727"/>
                </a:lnTo>
                <a:lnTo>
                  <a:pt x="889705" y="247761"/>
                </a:lnTo>
                <a:lnTo>
                  <a:pt x="909640" y="289144"/>
                </a:lnTo>
                <a:lnTo>
                  <a:pt x="925560" y="332640"/>
                </a:lnTo>
                <a:lnTo>
                  <a:pt x="937226" y="378011"/>
                </a:lnTo>
                <a:lnTo>
                  <a:pt x="944400" y="425017"/>
                </a:lnTo>
                <a:lnTo>
                  <a:pt x="946844" y="473422"/>
                </a:lnTo>
                <a:lnTo>
                  <a:pt x="944400" y="521826"/>
                </a:lnTo>
                <a:lnTo>
                  <a:pt x="937226" y="568833"/>
                </a:lnTo>
                <a:lnTo>
                  <a:pt x="925560" y="614203"/>
                </a:lnTo>
                <a:lnTo>
                  <a:pt x="909640" y="657699"/>
                </a:lnTo>
                <a:lnTo>
                  <a:pt x="889705" y="699083"/>
                </a:lnTo>
                <a:lnTo>
                  <a:pt x="865991" y="738117"/>
                </a:lnTo>
                <a:lnTo>
                  <a:pt x="838737" y="774562"/>
                </a:lnTo>
                <a:lnTo>
                  <a:pt x="808182" y="808182"/>
                </a:lnTo>
                <a:lnTo>
                  <a:pt x="774562" y="838737"/>
                </a:lnTo>
                <a:lnTo>
                  <a:pt x="738117" y="865991"/>
                </a:lnTo>
                <a:lnTo>
                  <a:pt x="699083" y="889704"/>
                </a:lnTo>
                <a:lnTo>
                  <a:pt x="657699" y="909640"/>
                </a:lnTo>
                <a:lnTo>
                  <a:pt x="614203" y="925560"/>
                </a:lnTo>
                <a:lnTo>
                  <a:pt x="568833" y="937226"/>
                </a:lnTo>
                <a:lnTo>
                  <a:pt x="521827" y="944400"/>
                </a:lnTo>
                <a:lnTo>
                  <a:pt x="473422" y="946844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4530488" y="4427887"/>
            <a:ext cx="2476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537634" y="4652227"/>
            <a:ext cx="11212100" cy="1283587"/>
            <a:chOff x="2158231" y="4514123"/>
            <a:chExt cx="11212100" cy="1283587"/>
          </a:xfrm>
        </p:grpSpPr>
        <p:sp>
          <p:nvSpPr>
            <p:cNvPr id="19" name="object 19"/>
            <p:cNvSpPr/>
            <p:nvPr/>
          </p:nvSpPr>
          <p:spPr>
            <a:xfrm>
              <a:off x="2253481" y="5004851"/>
              <a:ext cx="0" cy="614045"/>
            </a:xfrm>
            <a:custGeom>
              <a:avLst/>
              <a:gdLst/>
              <a:ahLst/>
              <a:cxnLst/>
              <a:rect l="l" t="t" r="r" b="b"/>
              <a:pathLst>
                <a:path h="614045">
                  <a:moveTo>
                    <a:pt x="0" y="0"/>
                  </a:moveTo>
                  <a:lnTo>
                    <a:pt x="0" y="613525"/>
                  </a:lnTo>
                </a:path>
              </a:pathLst>
            </a:custGeom>
            <a:ln w="47624">
              <a:solidFill>
                <a:srgbClr val="86E9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58231" y="5606470"/>
              <a:ext cx="190499" cy="19049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077977" y="4987578"/>
              <a:ext cx="0" cy="631825"/>
            </a:xfrm>
            <a:custGeom>
              <a:avLst/>
              <a:gdLst/>
              <a:ahLst/>
              <a:cxnLst/>
              <a:rect l="l" t="t" r="r" b="b"/>
              <a:pathLst>
                <a:path h="631825">
                  <a:moveTo>
                    <a:pt x="0" y="0"/>
                  </a:moveTo>
                  <a:lnTo>
                    <a:pt x="0" y="631539"/>
                  </a:lnTo>
                </a:path>
              </a:pathLst>
            </a:custGeom>
            <a:ln w="47624">
              <a:solidFill>
                <a:srgbClr val="86E9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2727" y="5607211"/>
              <a:ext cx="190499" cy="19049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764282" y="5004851"/>
              <a:ext cx="0" cy="614045"/>
            </a:xfrm>
            <a:custGeom>
              <a:avLst/>
              <a:gdLst/>
              <a:ahLst/>
              <a:cxnLst/>
              <a:rect l="l" t="t" r="r" b="b"/>
              <a:pathLst>
                <a:path h="614045">
                  <a:moveTo>
                    <a:pt x="0" y="0"/>
                  </a:moveTo>
                  <a:lnTo>
                    <a:pt x="0" y="613525"/>
                  </a:lnTo>
                </a:path>
              </a:pathLst>
            </a:custGeom>
            <a:ln w="47624">
              <a:solidFill>
                <a:srgbClr val="37C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69032" y="5606470"/>
              <a:ext cx="190499" cy="19049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0519682" y="5004851"/>
              <a:ext cx="0" cy="614045"/>
            </a:xfrm>
            <a:custGeom>
              <a:avLst/>
              <a:gdLst/>
              <a:ahLst/>
              <a:cxnLst/>
              <a:rect l="l" t="t" r="r" b="b"/>
              <a:pathLst>
                <a:path h="614045">
                  <a:moveTo>
                    <a:pt x="0" y="0"/>
                  </a:moveTo>
                  <a:lnTo>
                    <a:pt x="0" y="613525"/>
                  </a:lnTo>
                </a:path>
              </a:pathLst>
            </a:custGeom>
            <a:ln w="47624">
              <a:solidFill>
                <a:srgbClr val="17AF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24432" y="5606470"/>
              <a:ext cx="190499" cy="19049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3275082" y="5004851"/>
              <a:ext cx="0" cy="614045"/>
            </a:xfrm>
            <a:custGeom>
              <a:avLst/>
              <a:gdLst/>
              <a:ahLst/>
              <a:cxnLst/>
              <a:rect l="l" t="t" r="r" b="b"/>
              <a:pathLst>
                <a:path h="614045">
                  <a:moveTo>
                    <a:pt x="0" y="0"/>
                  </a:moveTo>
                  <a:lnTo>
                    <a:pt x="0" y="613525"/>
                  </a:lnTo>
                </a:path>
              </a:pathLst>
            </a:custGeom>
            <a:ln w="47624">
              <a:solidFill>
                <a:srgbClr val="1B87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79832" y="5606470"/>
              <a:ext cx="190499" cy="19049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726931" y="4514123"/>
              <a:ext cx="1877695" cy="17780"/>
            </a:xfrm>
            <a:custGeom>
              <a:avLst/>
              <a:gdLst/>
              <a:ahLst/>
              <a:cxnLst/>
              <a:rect l="l" t="t" r="r" b="b"/>
              <a:pathLst>
                <a:path w="1877695" h="17779">
                  <a:moveTo>
                    <a:pt x="0" y="17274"/>
                  </a:moveTo>
                  <a:lnTo>
                    <a:pt x="1877654" y="0"/>
                  </a:lnTo>
                </a:path>
              </a:pathLst>
            </a:custGeom>
            <a:ln w="57149">
              <a:solidFill>
                <a:srgbClr val="ECF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551430" y="4514125"/>
              <a:ext cx="1739900" cy="17780"/>
            </a:xfrm>
            <a:custGeom>
              <a:avLst/>
              <a:gdLst/>
              <a:ahLst/>
              <a:cxnLst/>
              <a:rect l="l" t="t" r="r" b="b"/>
              <a:pathLst>
                <a:path w="1739900" h="17779">
                  <a:moveTo>
                    <a:pt x="0" y="0"/>
                  </a:moveTo>
                  <a:lnTo>
                    <a:pt x="1739456" y="17274"/>
                  </a:lnTo>
                </a:path>
              </a:pathLst>
            </a:custGeom>
            <a:ln w="57149">
              <a:solidFill>
                <a:srgbClr val="ECF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237731" y="4531399"/>
              <a:ext cx="1809114" cy="0"/>
            </a:xfrm>
            <a:custGeom>
              <a:avLst/>
              <a:gdLst/>
              <a:ahLst/>
              <a:cxnLst/>
              <a:rect l="l" t="t" r="r" b="b"/>
              <a:pathLst>
                <a:path w="1809115">
                  <a:moveTo>
                    <a:pt x="0" y="0"/>
                  </a:moveTo>
                  <a:lnTo>
                    <a:pt x="1808555" y="0"/>
                  </a:lnTo>
                </a:path>
              </a:pathLst>
            </a:custGeom>
            <a:ln w="57149">
              <a:solidFill>
                <a:srgbClr val="ECF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0993132" y="4531399"/>
              <a:ext cx="1809114" cy="0"/>
            </a:xfrm>
            <a:custGeom>
              <a:avLst/>
              <a:gdLst/>
              <a:ahLst/>
              <a:cxnLst/>
              <a:rect l="l" t="t" r="r" b="b"/>
              <a:pathLst>
                <a:path w="1809115">
                  <a:moveTo>
                    <a:pt x="0" y="0"/>
                  </a:moveTo>
                  <a:lnTo>
                    <a:pt x="1808555" y="0"/>
                  </a:lnTo>
                </a:path>
              </a:pathLst>
            </a:custGeom>
            <a:ln w="57149">
              <a:solidFill>
                <a:srgbClr val="ECF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7310142" y="836322"/>
            <a:ext cx="3667085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295">
                <a:latin typeface="Trebuchet MS"/>
                <a:cs typeface="Trebuchet MS"/>
              </a:rPr>
              <a:t>Strategy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F8F16528-097C-A6CC-B59C-7681D2E54AF1}"/>
              </a:ext>
            </a:extLst>
          </p:cNvPr>
          <p:cNvSpPr txBox="1"/>
          <p:nvPr/>
        </p:nvSpPr>
        <p:spPr>
          <a:xfrm>
            <a:off x="5570462" y="6305313"/>
            <a:ext cx="1877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"/>
              </a:spcBef>
              <a:tabLst>
                <a:tab pos="2387600" algn="l"/>
              </a:tabLst>
            </a:pPr>
            <a:r>
              <a:rPr lang="en-GB" sz="2400" b="1">
                <a:solidFill>
                  <a:schemeClr val="bg1">
                    <a:lumMod val="10000"/>
                    <a:lumOff val="90000"/>
                  </a:schemeClr>
                </a:solidFill>
                <a:latin typeface="Tahoma"/>
                <a:cs typeface="Tahoma"/>
              </a:rPr>
              <a:t>ERD &amp;DDL</a:t>
            </a:r>
            <a:endParaRPr lang="nl-BE" sz="2400" b="1">
              <a:solidFill>
                <a:schemeClr val="bg1">
                  <a:lumMod val="10000"/>
                  <a:lumOff val="90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41" name="Tekstvak 40">
            <a:extLst>
              <a:ext uri="{FF2B5EF4-FFF2-40B4-BE49-F238E27FC236}">
                <a16:creationId xmlns:a16="http://schemas.microsoft.com/office/drawing/2014/main" id="{E4B66BE1-C6A3-BF93-03A2-CB341A48C555}"/>
              </a:ext>
            </a:extLst>
          </p:cNvPr>
          <p:cNvSpPr txBox="1"/>
          <p:nvPr/>
        </p:nvSpPr>
        <p:spPr>
          <a:xfrm>
            <a:off x="8251330" y="6311211"/>
            <a:ext cx="1783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>
                <a:solidFill>
                  <a:schemeClr val="bg1">
                    <a:lumMod val="10000"/>
                    <a:lumOff val="90000"/>
                  </a:schemeClr>
                </a:solidFill>
                <a:latin typeface="Tahoma"/>
                <a:cs typeface="Tahoma"/>
              </a:rPr>
              <a:t>Flask app</a:t>
            </a:r>
            <a:endParaRPr lang="nl-BE" sz="2400" b="1">
              <a:solidFill>
                <a:schemeClr val="bg1">
                  <a:lumMod val="10000"/>
                  <a:lumOff val="90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661923-954C-C440-FB6B-7CD7B466561D}"/>
              </a:ext>
            </a:extLst>
          </p:cNvPr>
          <p:cNvSpPr txBox="1"/>
          <p:nvPr/>
        </p:nvSpPr>
        <p:spPr>
          <a:xfrm>
            <a:off x="13446000" y="6154062"/>
            <a:ext cx="243888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bg1">
                    <a:lumMod val="10000"/>
                    <a:lumOff val="90000"/>
                  </a:schemeClr>
                </a:solidFill>
                <a:latin typeface="Tahoma"/>
                <a:cs typeface="Tahoma"/>
              </a:rPr>
              <a:t>Presentation and finishing touch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5349-A944-699A-2373-39EDB1BAC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 </a:t>
            </a:r>
            <a:r>
              <a:rPr lang="en-US" err="1"/>
              <a:t>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BB611-ED06-132B-0138-4BB23BF9F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As a user, I want to view available polls and submit a vote or suggestion, so that I can actively participate in the </a:t>
            </a:r>
            <a:r>
              <a:rPr lang="en-US" err="1"/>
              <a:t>Vicaris</a:t>
            </a:r>
            <a:r>
              <a:rPr lang="en-US"/>
              <a:t> Village selection process.</a:t>
            </a:r>
          </a:p>
          <a:p>
            <a:r>
              <a:rPr lang="en-US"/>
              <a:t>Users can submit a vote via the polling interface</a:t>
            </a:r>
          </a:p>
          <a:p>
            <a:r>
              <a:rPr lang="en-US"/>
              <a:t>Users </a:t>
            </a:r>
            <a:r>
              <a:rPr lang="en-US" err="1"/>
              <a:t>can</a:t>
            </a:r>
            <a:r>
              <a:rPr lang="en-US"/>
              <a:t> </a:t>
            </a:r>
            <a:r>
              <a:rPr lang="en-US" err="1"/>
              <a:t>suggest</a:t>
            </a:r>
            <a:r>
              <a:rPr lang="en-US"/>
              <a:t> </a:t>
            </a:r>
            <a:r>
              <a:rPr lang="en-US" err="1"/>
              <a:t>an</a:t>
            </a:r>
            <a:r>
              <a:rPr lang="en-US"/>
              <a:t> artist </a:t>
            </a:r>
            <a:r>
              <a:rPr lang="en-US" err="1"/>
              <a:t>using</a:t>
            </a:r>
            <a:r>
              <a:rPr lang="en-US"/>
              <a:t> a form</a:t>
            </a:r>
          </a:p>
          <a:p>
            <a:r>
              <a:rPr lang="en-US"/>
              <a:t>As a user, I want to view clear and structured poll results and submitted suggestions, so that I can understand the collective preferences of the community.</a:t>
            </a:r>
          </a:p>
          <a:p>
            <a:r>
              <a:rPr lang="en-US"/>
              <a:t>As an admin, I want to manage artists, editions and polls, so that the </a:t>
            </a:r>
            <a:r>
              <a:rPr lang="en-US" err="1"/>
              <a:t>Vicaris</a:t>
            </a:r>
            <a:r>
              <a:rPr lang="en-US"/>
              <a:t> Village application remains accurate, up to date and scalable for future events.</a:t>
            </a:r>
          </a:p>
        </p:txBody>
      </p:sp>
    </p:spTree>
    <p:extLst>
      <p:ext uri="{BB962C8B-B14F-4D97-AF65-F5344CB8AC3E}">
        <p14:creationId xmlns:p14="http://schemas.microsoft.com/office/powerpoint/2010/main" val="1455543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DF0AD0-D664-71C7-C0E4-E311DA7F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User Interface with Figma (initial)</a:t>
            </a:r>
            <a:endParaRPr lang="nl-BE" b="1"/>
          </a:p>
        </p:txBody>
      </p:sp>
      <p:pic>
        <p:nvPicPr>
          <p:cNvPr id="9" name="Tijdelijke aanduiding voor inhoud 8" descr="Afbeelding met schermopname, software, tekst, Computerpictogram&#10;&#10;Door AI gegenereerde inhoud is mogelijk onjuist.">
            <a:extLst>
              <a:ext uri="{FF2B5EF4-FFF2-40B4-BE49-F238E27FC236}">
                <a16:creationId xmlns:a16="http://schemas.microsoft.com/office/drawing/2014/main" id="{3AEB6F75-24E5-C54F-217C-236F6B7F28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4851" y="5833471"/>
            <a:ext cx="14278298" cy="3834991"/>
          </a:xfrm>
          <a:prstGeom prst="rect">
            <a:avLst/>
          </a:prstGeom>
        </p:spPr>
      </p:pic>
      <p:pic>
        <p:nvPicPr>
          <p:cNvPr id="7" name="Afbeelding 6" descr="Afbeelding met tekst, software, Computerpictogram, Besturingssysteem&#10;&#10;Door AI gegenereerde inhoud is mogelijk onjuist.">
            <a:extLst>
              <a:ext uri="{FF2B5EF4-FFF2-40B4-BE49-F238E27FC236}">
                <a16:creationId xmlns:a16="http://schemas.microsoft.com/office/drawing/2014/main" id="{B16F4526-1A40-C7BD-65CC-E930969943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445"/>
          <a:stretch>
            <a:fillRect/>
          </a:stretch>
        </p:blipFill>
        <p:spPr>
          <a:xfrm>
            <a:off x="4925511" y="2337669"/>
            <a:ext cx="8436977" cy="330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510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9008F-A6E5-B9BA-9125-28930D322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2F241C-F54D-2AEE-7A75-ABA71AB37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User Interface (now)</a:t>
            </a:r>
            <a:endParaRPr lang="nl-BE" b="1"/>
          </a:p>
        </p:txBody>
      </p:sp>
      <p:pic>
        <p:nvPicPr>
          <p:cNvPr id="4" name="Afbeelding 3" descr="Afbeelding met publiek, massa, schermopname, evenement&#10;&#10;Door AI gegenereerde inhoud is mogelijk onjuist.">
            <a:extLst>
              <a:ext uri="{FF2B5EF4-FFF2-40B4-BE49-F238E27FC236}">
                <a16:creationId xmlns:a16="http://schemas.microsoft.com/office/drawing/2014/main" id="{9ED80E58-F3EB-39D5-7BE0-D0AA7620C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072" y="3390294"/>
            <a:ext cx="9338953" cy="4549746"/>
          </a:xfrm>
          <a:prstGeom prst="rect">
            <a:avLst/>
          </a:prstGeom>
        </p:spPr>
      </p:pic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30E23FB-A391-7F97-83B0-E0A86625F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14" name="Afbeelding 13" descr="Afbeelding met tekst, schermopname, Lettertype, ontwerp&#10;&#10;Door AI gegenereerde inhoud is mogelijk onjuist.">
            <a:extLst>
              <a:ext uri="{FF2B5EF4-FFF2-40B4-BE49-F238E27FC236}">
                <a16:creationId xmlns:a16="http://schemas.microsoft.com/office/drawing/2014/main" id="{4AD0D3D4-9072-8BFC-3967-D149D2088F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3"/>
          <a:stretch>
            <a:fillRect/>
          </a:stretch>
        </p:blipFill>
        <p:spPr>
          <a:xfrm>
            <a:off x="11237916" y="3337848"/>
            <a:ext cx="4800600" cy="460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42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601" y="1181100"/>
            <a:ext cx="198120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b="1" spc="250">
                <a:latin typeface="Trebuchet MS"/>
                <a:cs typeface="Trebuchet MS"/>
              </a:rPr>
              <a:t>ERD</a:t>
            </a:r>
            <a:endParaRPr b="1" spc="2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8371" y="2418395"/>
            <a:ext cx="5144003" cy="370999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610"/>
              </a:spcBef>
              <a:buFont typeface="Arial" panose="020B0604020202020204" pitchFamily="34" charset="0"/>
              <a:buChar char="•"/>
            </a:pPr>
            <a:r>
              <a:rPr lang="en-GB" sz="2700" spc="-75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r>
              <a:rPr sz="2700" spc="-20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>
                <a:solidFill>
                  <a:srgbClr val="FFFFFF"/>
                </a:solidFill>
                <a:latin typeface="Verdana"/>
                <a:cs typeface="Verdana"/>
              </a:rPr>
              <a:t>entities</a:t>
            </a:r>
            <a:r>
              <a:rPr sz="2700" spc="-20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endParaRPr lang="en-GB" sz="2700" spc="-204">
              <a:solidFill>
                <a:srgbClr val="FFFFFF"/>
              </a:solidFill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610"/>
              </a:spcBef>
              <a:buFont typeface="Arial" panose="020B0604020202020204" pitchFamily="34" charset="0"/>
              <a:buChar char="•"/>
            </a:pPr>
            <a:r>
              <a:rPr lang="en-GB" sz="2700" spc="-65">
                <a:solidFill>
                  <a:srgbClr val="FFFFFF"/>
                </a:solidFill>
                <a:latin typeface="Verdana"/>
                <a:cs typeface="Verdana"/>
              </a:rPr>
              <a:t>42 attributes</a:t>
            </a:r>
          </a:p>
          <a:p>
            <a:pPr marL="469900" indent="-457200">
              <a:lnSpc>
                <a:spcPct val="100000"/>
              </a:lnSpc>
              <a:spcBef>
                <a:spcPts val="610"/>
              </a:spcBef>
              <a:buFont typeface="Arial" panose="020B0604020202020204" pitchFamily="34" charset="0"/>
              <a:buChar char="•"/>
            </a:pPr>
            <a:r>
              <a:rPr lang="en-GB" sz="2700">
                <a:solidFill>
                  <a:srgbClr val="FFFFFF"/>
                </a:solidFill>
                <a:latin typeface="Verdana"/>
                <a:cs typeface="Verdana"/>
              </a:rPr>
              <a:t>Each entity has 1 or more primary keys</a:t>
            </a:r>
            <a:endParaRPr lang="en-GB" sz="2700" spc="-35">
              <a:solidFill>
                <a:srgbClr val="FFFFFF"/>
              </a:solidFill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610"/>
              </a:spcBef>
              <a:buFont typeface="Arial" panose="020B0604020202020204" pitchFamily="34" charset="0"/>
              <a:buChar char="•"/>
            </a:pPr>
            <a:r>
              <a:rPr lang="en-GB" sz="2700" spc="-35">
                <a:solidFill>
                  <a:srgbClr val="FFFFFF"/>
                </a:solidFill>
                <a:latin typeface="Verdana"/>
                <a:cs typeface="Verdana"/>
              </a:rPr>
              <a:t>Relationships implemented using foreign keys</a:t>
            </a:r>
          </a:p>
          <a:p>
            <a:pPr marL="469900" indent="-457200">
              <a:lnSpc>
                <a:spcPct val="100000"/>
              </a:lnSpc>
              <a:spcBef>
                <a:spcPts val="610"/>
              </a:spcBef>
              <a:buFont typeface="Arial" panose="020B0604020202020204" pitchFamily="34" charset="0"/>
              <a:buChar char="•"/>
            </a:pPr>
            <a:r>
              <a:rPr lang="en-GB" sz="2700" spc="-35">
                <a:solidFill>
                  <a:srgbClr val="FFFFFF"/>
                </a:solidFill>
                <a:latin typeface="Verdana"/>
                <a:cs typeface="Verdana"/>
              </a:rPr>
              <a:t>N:M relationships resolved using junction tables</a:t>
            </a:r>
            <a:endParaRPr sz="2700">
              <a:solidFill>
                <a:srgbClr val="FFFFFF"/>
              </a:solidFill>
              <a:latin typeface="Verdana"/>
              <a:cs typeface="Verdana"/>
            </a:endParaRPr>
          </a:p>
        </p:txBody>
      </p:sp>
      <p:pic>
        <p:nvPicPr>
          <p:cNvPr id="4" name="Afbeelding 3" descr="Afbeelding met tekst, schermopname, nummer, software&#10;&#10;Door AI gegenereerde inhoud is mogelijk onjuist.">
            <a:extLst>
              <a:ext uri="{FF2B5EF4-FFF2-40B4-BE49-F238E27FC236}">
                <a16:creationId xmlns:a16="http://schemas.microsoft.com/office/drawing/2014/main" id="{08F687C8-B1FE-C89E-6D19-2E88CF018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995" y="513704"/>
            <a:ext cx="10850489" cy="92595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E6F18-90AB-90F0-AF9D-B8D80272C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Festival Edition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828AA-4735-6B30-7628-B82465537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Our poll application works for multiple festivals</a:t>
            </a:r>
          </a:p>
          <a:p>
            <a:r>
              <a:rPr lang="en-US"/>
              <a:t>Possible to adapt the edition</a:t>
            </a:r>
          </a:p>
        </p:txBody>
      </p:sp>
    </p:spTree>
    <p:extLst>
      <p:ext uri="{BB962C8B-B14F-4D97-AF65-F5344CB8AC3E}">
        <p14:creationId xmlns:p14="http://schemas.microsoft.com/office/powerpoint/2010/main" val="3171243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0B003-B579-875D-BBB7-C86420C59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Overall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80A4E-C6CC-B1BB-35D6-3C14CE8AE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Flask </a:t>
            </a:r>
            <a:r>
              <a:rPr lang="en-US" i="1">
                <a:ea typeface="+mn-lt"/>
                <a:cs typeface="+mn-lt"/>
              </a:rPr>
              <a:t>application factory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 err="1">
                <a:latin typeface="Consolas"/>
              </a:rPr>
              <a:t>create_app</a:t>
            </a:r>
            <a:r>
              <a:rPr lang="en-US">
                <a:latin typeface="Consolas"/>
              </a:rPr>
              <a:t>()</a:t>
            </a:r>
            <a:r>
              <a:rPr lang="en-US">
                <a:ea typeface="+mn-lt"/>
                <a:cs typeface="+mn-lt"/>
              </a:rPr>
              <a:t>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Central </a:t>
            </a:r>
            <a:r>
              <a:rPr lang="en-US">
                <a:latin typeface="Consolas"/>
              </a:rPr>
              <a:t>models.py</a:t>
            </a:r>
            <a:r>
              <a:rPr lang="en-US">
                <a:ea typeface="+mn-lt"/>
                <a:cs typeface="+mn-lt"/>
              </a:rPr>
              <a:t> using </a:t>
            </a:r>
            <a:r>
              <a:rPr lang="en-US" err="1">
                <a:ea typeface="+mn-lt"/>
                <a:cs typeface="+mn-lt"/>
              </a:rPr>
              <a:t>SQLAlchemy</a:t>
            </a:r>
            <a:endParaRPr lang="en-US" err="1"/>
          </a:p>
          <a:p>
            <a:r>
              <a:rPr lang="en-US">
                <a:ea typeface="+mn-lt"/>
                <a:cs typeface="+mn-lt"/>
              </a:rPr>
              <a:t>Blueprints in </a:t>
            </a:r>
            <a:r>
              <a:rPr lang="en-US">
                <a:latin typeface="Consolas"/>
              </a:rPr>
              <a:t>app/routes/</a:t>
            </a:r>
            <a:endParaRPr lang="en-US"/>
          </a:p>
          <a:p>
            <a:r>
              <a:rPr lang="en-US">
                <a:ea typeface="+mn-lt"/>
                <a:cs typeface="+mn-lt"/>
              </a:rPr>
              <a:t>HTML templates in </a:t>
            </a:r>
            <a:r>
              <a:rPr lang="en-US">
                <a:latin typeface="Consolas"/>
              </a:rPr>
              <a:t>app/templates/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Static assets in </a:t>
            </a:r>
            <a:r>
              <a:rPr lang="en-US">
                <a:latin typeface="Consolas"/>
              </a:rPr>
              <a:t>app/static/</a:t>
            </a:r>
            <a:endParaRPr lang="en-US"/>
          </a:p>
          <a:p>
            <a:r>
              <a:rPr lang="en-US">
                <a:ea typeface="+mn-lt"/>
                <a:cs typeface="+mn-lt"/>
              </a:rPr>
              <a:t>Business logic in </a:t>
            </a:r>
            <a:r>
              <a:rPr lang="en-US">
                <a:latin typeface="Consolas"/>
              </a:rPr>
              <a:t>app/services/</a:t>
            </a:r>
            <a:endParaRPr lang="en-US"/>
          </a:p>
          <a:p>
            <a:r>
              <a:rPr lang="en-US">
                <a:ea typeface="+mn-lt"/>
                <a:cs typeface="+mn-lt"/>
              </a:rPr>
              <a:t>Helper utilities in </a:t>
            </a:r>
            <a:r>
              <a:rPr lang="en-US">
                <a:latin typeface="Consolas"/>
              </a:rPr>
              <a:t>app/utils/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35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F0DCB-5B2C-B4C0-02D3-0052CD7BC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Flask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71F1D-9C97-B483-5DC7-5F297E0BE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 err="1">
                <a:latin typeface="Consolas"/>
              </a:rPr>
              <a:t>create_app</a:t>
            </a:r>
            <a:r>
              <a:rPr lang="en-US" dirty="0">
                <a:latin typeface="Consolas"/>
              </a:rPr>
              <a:t>()</a:t>
            </a:r>
            <a:r>
              <a:rPr lang="en-US" dirty="0">
                <a:ea typeface="+mn-lt"/>
                <a:cs typeface="+mn-lt"/>
              </a:rPr>
              <a:t> loads configuration (</a:t>
            </a:r>
            <a:r>
              <a:rPr lang="en-US" dirty="0">
                <a:latin typeface="Consolas"/>
              </a:rPr>
              <a:t>Config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Initializes database (</a:t>
            </a:r>
            <a:r>
              <a:rPr lang="en-US" dirty="0" err="1">
                <a:latin typeface="Consolas"/>
              </a:rPr>
              <a:t>db.init_app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Enables Flask-Migrate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Registers all blueprints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Context processors: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>
                <a:latin typeface="Consolas"/>
              </a:rPr>
              <a:t>current_user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>
                <a:latin typeface="Consolas"/>
              </a:rPr>
              <a:t>poll_visibility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>
                <a:latin typeface="Consolas"/>
              </a:rPr>
              <a:t>suggestions_visibility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>
                <a:latin typeface="Consolas"/>
              </a:rPr>
              <a:t>results_visibility</a:t>
            </a:r>
            <a:endParaRPr lang="en-US" dirty="0">
              <a:latin typeface="Consolas"/>
            </a:endParaRPr>
          </a:p>
          <a:p>
            <a:pPr>
              <a:buFont typeface="Courier New" panose="020B0604020202020204" pitchFamily="34" charset="0"/>
              <a:buChar char="o"/>
            </a:pPr>
            <a:r>
              <a:rPr lang="nl-BE" dirty="0"/>
              <a:t>@app.before_request-hook: </a:t>
            </a:r>
            <a:r>
              <a:rPr lang="nl-BE" dirty="0" err="1"/>
              <a:t>always</a:t>
            </a:r>
            <a:r>
              <a:rPr lang="nl-BE" dirty="0"/>
              <a:t> </a:t>
            </a:r>
            <a:r>
              <a:rPr lang="nl-BE" dirty="0" err="1"/>
              <a:t>an</a:t>
            </a:r>
            <a:r>
              <a:rPr lang="nl-BE" dirty="0"/>
              <a:t> </a:t>
            </a:r>
            <a:r>
              <a:rPr lang="nl-BE" dirty="0" err="1"/>
              <a:t>active</a:t>
            </a:r>
            <a:r>
              <a:rPr lang="nl-BE" dirty="0"/>
              <a:t> poll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076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C02A-4D0C-6416-7F3D-21808065D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62D63-86F3-98F0-40FF-46493E0AB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Consolas"/>
              </a:rPr>
              <a:t>core.py</a:t>
            </a:r>
            <a:r>
              <a:rPr lang="en-US">
                <a:ea typeface="+mn-lt"/>
                <a:cs typeface="+mn-lt"/>
              </a:rPr>
              <a:t> --&gt; homepage</a:t>
            </a:r>
            <a:endParaRPr lang="en-US"/>
          </a:p>
          <a:p>
            <a:r>
              <a:rPr lang="en-US">
                <a:latin typeface="Consolas"/>
              </a:rPr>
              <a:t>auth.py</a:t>
            </a:r>
            <a:r>
              <a:rPr lang="en-US">
                <a:ea typeface="+mn-lt"/>
                <a:cs typeface="+mn-lt"/>
              </a:rPr>
              <a:t>  --&gt; register / login / logout</a:t>
            </a:r>
            <a:endParaRPr lang="en-US"/>
          </a:p>
          <a:p>
            <a:r>
              <a:rPr lang="en-US">
                <a:latin typeface="Consolas"/>
              </a:rPr>
              <a:t>suggestions.py</a:t>
            </a:r>
            <a:r>
              <a:rPr lang="en-US">
                <a:ea typeface="+mn-lt"/>
                <a:cs typeface="+mn-lt"/>
              </a:rPr>
              <a:t>  --&gt;artist suggestions (max. 5 per edition)</a:t>
            </a:r>
            <a:endParaRPr lang="en-US"/>
          </a:p>
          <a:p>
            <a:r>
              <a:rPr lang="en-US">
                <a:latin typeface="Consolas"/>
              </a:rPr>
              <a:t>poll.py</a:t>
            </a:r>
            <a:r>
              <a:rPr lang="en-US">
                <a:ea typeface="+mn-lt"/>
                <a:cs typeface="+mn-lt"/>
              </a:rPr>
              <a:t> --&gt; poll loading, voting, and results</a:t>
            </a:r>
            <a:endParaRPr lang="en-US"/>
          </a:p>
          <a:p>
            <a:r>
              <a:rPr lang="en-US">
                <a:latin typeface="Consolas"/>
              </a:rPr>
              <a:t>admin.py</a:t>
            </a:r>
            <a:r>
              <a:rPr lang="en-US">
                <a:ea typeface="+mn-lt"/>
                <a:cs typeface="+mn-lt"/>
              </a:rPr>
              <a:t>  --&gt; admin dashboard</a:t>
            </a:r>
            <a:endParaRPr lang="en-US"/>
          </a:p>
          <a:p>
            <a:r>
              <a:rPr lang="en-US">
                <a:latin typeface="Consolas"/>
              </a:rPr>
              <a:t>admin_editions.py</a:t>
            </a:r>
            <a:r>
              <a:rPr lang="en-US">
                <a:ea typeface="+mn-lt"/>
                <a:cs typeface="+mn-lt"/>
              </a:rPr>
              <a:t> --&gt; edition management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472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83157-7EF7-2D8F-8FD3-BCBF06BBC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Database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7B0CD-4534-6BBC-A9DF-B4338072C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Consolas"/>
              </a:rPr>
              <a:t>User</a:t>
            </a:r>
            <a:r>
              <a:rPr lang="en-US">
                <a:latin typeface="Consolas"/>
                <a:ea typeface="+mn-lt"/>
                <a:cs typeface="+mn-lt"/>
              </a:rPr>
              <a:t> --&gt;</a:t>
            </a:r>
            <a:r>
              <a:rPr lang="en-US">
                <a:ea typeface="+mn-lt"/>
                <a:cs typeface="+mn-lt"/>
              </a:rPr>
              <a:t> authentication + </a:t>
            </a:r>
            <a:r>
              <a:rPr lang="en-US" err="1">
                <a:latin typeface="Consolas"/>
              </a:rPr>
              <a:t>is_admin</a:t>
            </a:r>
            <a:endParaRPr lang="en-US" err="1"/>
          </a:p>
          <a:p>
            <a:r>
              <a:rPr lang="en-US" err="1">
                <a:latin typeface="Consolas"/>
              </a:rPr>
              <a:t>FestivalEdition</a:t>
            </a:r>
            <a:r>
              <a:rPr lang="en-US">
                <a:latin typeface="Consolas"/>
                <a:ea typeface="+mn-lt"/>
                <a:cs typeface="+mn-lt"/>
              </a:rPr>
              <a:t> --&gt;</a:t>
            </a:r>
            <a:r>
              <a:rPr lang="en-US">
                <a:ea typeface="+mn-lt"/>
                <a:cs typeface="+mn-lt"/>
              </a:rPr>
              <a:t> edition details + active flag</a:t>
            </a:r>
            <a:endParaRPr lang="en-US"/>
          </a:p>
          <a:p>
            <a:r>
              <a:rPr lang="en-US">
                <a:latin typeface="Consolas"/>
              </a:rPr>
              <a:t>Artists</a:t>
            </a:r>
            <a:r>
              <a:rPr lang="en-US">
                <a:ea typeface="+mn-lt"/>
                <a:cs typeface="+mn-lt"/>
              </a:rPr>
              <a:t> — artists linked to an edition</a:t>
            </a:r>
            <a:endParaRPr lang="en-US"/>
          </a:p>
          <a:p>
            <a:r>
              <a:rPr lang="en-US">
                <a:latin typeface="Consolas"/>
              </a:rPr>
              <a:t>Genres</a:t>
            </a:r>
            <a:r>
              <a:rPr lang="en-US">
                <a:ea typeface="+mn-lt"/>
                <a:cs typeface="+mn-lt"/>
              </a:rPr>
              <a:t> + </a:t>
            </a:r>
            <a:r>
              <a:rPr lang="en-US" err="1">
                <a:latin typeface="Consolas"/>
              </a:rPr>
              <a:t>ArtistGenres</a:t>
            </a:r>
            <a:r>
              <a:rPr lang="en-US">
                <a:ea typeface="+mn-lt"/>
                <a:cs typeface="+mn-lt"/>
              </a:rPr>
              <a:t> --&gt; many-to-many relationship</a:t>
            </a:r>
            <a:endParaRPr lang="en-US"/>
          </a:p>
          <a:p>
            <a:r>
              <a:rPr lang="en-US" err="1">
                <a:latin typeface="Consolas"/>
              </a:rPr>
              <a:t>SuggestionFeedback</a:t>
            </a:r>
            <a:r>
              <a:rPr lang="en-US">
                <a:latin typeface="Consolas"/>
                <a:ea typeface="+mn-lt"/>
                <a:cs typeface="+mn-lt"/>
              </a:rPr>
              <a:t> --&gt;</a:t>
            </a:r>
            <a:r>
              <a:rPr lang="en-US">
                <a:ea typeface="+mn-lt"/>
                <a:cs typeface="+mn-lt"/>
              </a:rPr>
              <a:t> user suggestions per edition</a:t>
            </a:r>
            <a:endParaRPr lang="en-US"/>
          </a:p>
          <a:p>
            <a:r>
              <a:rPr lang="en-US">
                <a:latin typeface="Consolas"/>
              </a:rPr>
              <a:t>Poll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latin typeface="Consolas"/>
              </a:rPr>
              <a:t>Polloption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>
                <a:latin typeface="Consolas"/>
              </a:rPr>
              <a:t>VotesFor</a:t>
            </a:r>
            <a:r>
              <a:rPr lang="en-US">
                <a:latin typeface="Consolas"/>
                <a:ea typeface="+mn-lt"/>
                <a:cs typeface="+mn-lt"/>
              </a:rPr>
              <a:t> --&gt;</a:t>
            </a:r>
            <a:r>
              <a:rPr lang="en-US">
                <a:ea typeface="+mn-lt"/>
                <a:cs typeface="+mn-lt"/>
              </a:rPr>
              <a:t> complete poll system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782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76C51-1FD6-08D0-BD7D-223450892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Services and business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664FC-2F2B-3D73-0E03-94F973F90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Consolas"/>
              </a:rPr>
              <a:t>poll.py</a:t>
            </a:r>
            <a:r>
              <a:rPr lang="en-US">
                <a:ea typeface="+mn-lt"/>
                <a:cs typeface="+mn-lt"/>
              </a:rPr>
              <a:t> service: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latin typeface="Consolas"/>
              </a:rPr>
              <a:t>get_active_festival</a:t>
            </a:r>
            <a:r>
              <a:rPr lang="en-US">
                <a:latin typeface="Consolas"/>
              </a:rPr>
              <a:t>()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latin typeface="Consolas"/>
              </a:rPr>
              <a:t>get_or_create_poll_for_edition</a:t>
            </a:r>
            <a:r>
              <a:rPr lang="en-US">
                <a:latin typeface="Consolas"/>
              </a:rPr>
              <a:t>()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latin typeface="Consolas"/>
              </a:rPr>
              <a:t>get_or_create_active_poll</a:t>
            </a:r>
            <a:r>
              <a:rPr lang="en-US">
                <a:latin typeface="Consolas"/>
              </a:rPr>
              <a:t>()</a:t>
            </a:r>
            <a:endParaRPr lang="en-US"/>
          </a:p>
          <a:p>
            <a:r>
              <a:rPr lang="en-US">
                <a:latin typeface="Consolas"/>
              </a:rPr>
              <a:t>genre_profile.py</a:t>
            </a:r>
            <a:r>
              <a:rPr lang="en-US">
                <a:ea typeface="+mn-lt"/>
                <a:cs typeface="+mn-lt"/>
              </a:rPr>
              <a:t> service: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Builds user music profile from suggestions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Generates personalized poll options</a:t>
            </a:r>
            <a:endParaRPr lang="en-US"/>
          </a:p>
          <a:p>
            <a:r>
              <a:rPr lang="en-US">
                <a:latin typeface="Consolas"/>
              </a:rPr>
              <a:t>session.py</a:t>
            </a:r>
            <a:r>
              <a:rPr lang="en-US">
                <a:ea typeface="+mn-lt"/>
                <a:cs typeface="+mn-lt"/>
              </a:rPr>
              <a:t> utility: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latin typeface="Consolas"/>
              </a:rPr>
              <a:t>get_session_user</a:t>
            </a:r>
            <a:r>
              <a:rPr lang="en-US">
                <a:latin typeface="Consolas"/>
              </a:rPr>
              <a:t>()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10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8D5CE6-EB33-EC59-D1E1-4E0A955A0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Algorithmic support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F1774A3-C2E5-AD28-A6A8-7D1BA5435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Builds a user genre profile based on suggestions</a:t>
            </a:r>
          </a:p>
          <a:p>
            <a:r>
              <a:rPr lang="en-GB" dirty="0"/>
              <a:t>Scores artists using genre similarity</a:t>
            </a:r>
          </a:p>
          <a:p>
            <a:r>
              <a:rPr lang="en-GB" dirty="0"/>
              <a:t>Selects top-ranked artists for personalised polls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31835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55410-2DD5-541A-59A8-C4DD37FE4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Strenghts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7D90A-B4BD-CA5B-53DA-CAAC83DC9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Useful for festivals</a:t>
            </a:r>
          </a:p>
          <a:p>
            <a:r>
              <a:rPr lang="en-US"/>
              <a:t>Easy to use for customers</a:t>
            </a:r>
          </a:p>
          <a:p>
            <a:r>
              <a:rPr lang="en-US"/>
              <a:t>Easy to filter artists for admin</a:t>
            </a:r>
          </a:p>
          <a:p>
            <a:r>
              <a:rPr lang="en-US" err="1"/>
              <a:t>Upscaleable</a:t>
            </a:r>
          </a:p>
          <a:p>
            <a:r>
              <a:rPr lang="en-US"/>
              <a:t>Everyone can vote</a:t>
            </a:r>
          </a:p>
          <a:p>
            <a:r>
              <a:rPr lang="en-US"/>
              <a:t>Sorted into genres</a:t>
            </a:r>
          </a:p>
        </p:txBody>
      </p:sp>
    </p:spTree>
    <p:extLst>
      <p:ext uri="{BB962C8B-B14F-4D97-AF65-F5344CB8AC3E}">
        <p14:creationId xmlns:p14="http://schemas.microsoft.com/office/powerpoint/2010/main" val="2846938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B9BB3-FB60-9BC2-A81A-F40E88F52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</p:spPr>
        <p:txBody>
          <a:bodyPr anchor="ctr">
            <a:normAutofit/>
          </a:bodyPr>
          <a:lstStyle/>
          <a:p>
            <a:r>
              <a:rPr lang="en-US" err="1"/>
              <a:t>Upscalability</a:t>
            </a:r>
          </a:p>
        </p:txBody>
      </p:sp>
      <p:pic>
        <p:nvPicPr>
          <p:cNvPr id="4" name="Content Placeholder 3" descr="Geen beschrijving beschikbaar.">
            <a:extLst>
              <a:ext uri="{FF2B5EF4-FFF2-40B4-BE49-F238E27FC236}">
                <a16:creationId xmlns:a16="http://schemas.microsoft.com/office/drawing/2014/main" id="{433E21D8-9DB3-FEA6-041B-F0D5AEA12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0657" y="2738438"/>
            <a:ext cx="14266685" cy="65270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55246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6779E-6390-8CA6-8ED9-13674B442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61369" cy="1663492"/>
          </a:xfrm>
        </p:spPr>
        <p:txBody>
          <a:bodyPr anchor="ctr">
            <a:normAutofit/>
          </a:bodyPr>
          <a:lstStyle/>
          <a:p>
            <a:r>
              <a:rPr lang="en-US" b="1">
                <a:ea typeface="+mj-lt"/>
                <a:cs typeface="+mj-lt"/>
              </a:rPr>
              <a:t>Image storage as an upscaling strategy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B96AC2C-64BA-3987-27AF-DE45567F7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3806239"/>
            <a:ext cx="7772400" cy="4391404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99E08-1499-6AE4-6972-1A8AA1086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900" b="1">
                <a:ea typeface="+mn-lt"/>
                <a:cs typeface="+mn-lt"/>
              </a:rPr>
              <a:t>Current approach</a:t>
            </a:r>
            <a:endParaRPr lang="en-US" sz="2900">
              <a:ea typeface="+mn-lt"/>
              <a:cs typeface="+mn-lt"/>
            </a:endParaRPr>
          </a:p>
          <a:p>
            <a:r>
              <a:rPr lang="en-US" sz="2900">
                <a:ea typeface="+mn-lt"/>
                <a:cs typeface="+mn-lt"/>
              </a:rPr>
              <a:t>Images stored on the filesystem</a:t>
            </a:r>
            <a:endParaRPr lang="en-US">
              <a:ea typeface="+mn-lt"/>
              <a:cs typeface="+mn-lt"/>
            </a:endParaRPr>
          </a:p>
          <a:p>
            <a:r>
              <a:rPr lang="en-US" sz="2900">
                <a:ea typeface="+mn-lt"/>
                <a:cs typeface="+mn-lt"/>
              </a:rPr>
              <a:t>Database only stores the relative image path</a:t>
            </a:r>
            <a:endParaRPr lang="en-US">
              <a:ea typeface="+mn-lt"/>
              <a:cs typeface="+mn-lt"/>
            </a:endParaRPr>
          </a:p>
          <a:p>
            <a:r>
              <a:rPr lang="en-US" sz="2900">
                <a:ea typeface="+mn-lt"/>
                <a:cs typeface="+mn-lt"/>
              </a:rPr>
              <a:t>Flask serves images via dynamic static routing</a:t>
            </a:r>
            <a:endParaRPr lang="en-US">
              <a:ea typeface="+mn-lt"/>
              <a:cs typeface="+mn-lt"/>
            </a:endParaRPr>
          </a:p>
          <a:p>
            <a:r>
              <a:rPr lang="en-US" sz="2900" b="1">
                <a:ea typeface="+mn-lt"/>
                <a:cs typeface="+mn-lt"/>
              </a:rPr>
              <a:t>Upscaling option</a:t>
            </a:r>
            <a:endParaRPr lang="en-US">
              <a:ea typeface="+mn-lt"/>
              <a:cs typeface="+mn-lt"/>
            </a:endParaRPr>
          </a:p>
          <a:p>
            <a:r>
              <a:rPr lang="en-US" sz="2900">
                <a:ea typeface="+mn-lt"/>
                <a:cs typeface="+mn-lt"/>
              </a:rPr>
              <a:t>Move images to a </a:t>
            </a:r>
            <a:r>
              <a:rPr lang="en-US" sz="2900" err="1">
                <a:ea typeface="+mn-lt"/>
                <a:cs typeface="+mn-lt"/>
              </a:rPr>
              <a:t>Supabase</a:t>
            </a:r>
            <a:r>
              <a:rPr lang="en-US" sz="2900">
                <a:ea typeface="+mn-lt"/>
                <a:cs typeface="+mn-lt"/>
              </a:rPr>
              <a:t> Storage Bucket</a:t>
            </a:r>
            <a:endParaRPr lang="en-US">
              <a:ea typeface="+mn-lt"/>
              <a:cs typeface="+mn-lt"/>
            </a:endParaRPr>
          </a:p>
          <a:p>
            <a:r>
              <a:rPr lang="en-US" sz="2900">
                <a:ea typeface="+mn-lt"/>
                <a:cs typeface="+mn-lt"/>
              </a:rPr>
              <a:t>Keep only the image URL/path in the database</a:t>
            </a:r>
            <a:endParaRPr lang="en-US">
              <a:ea typeface="+mn-lt"/>
              <a:cs typeface="+mn-lt"/>
            </a:endParaRPr>
          </a:p>
          <a:p>
            <a:r>
              <a:rPr lang="en-US" sz="2900">
                <a:ea typeface="+mn-lt"/>
                <a:cs typeface="+mn-lt"/>
              </a:rPr>
              <a:t>Improved scalability, performance and deployment flexibility</a:t>
            </a:r>
            <a:endParaRPr lang="en-US">
              <a:ea typeface="+mn-lt"/>
              <a:cs typeface="+mn-lt"/>
            </a:endParaRPr>
          </a:p>
          <a:p>
            <a:endParaRPr lang="en-US" sz="2900" b="1"/>
          </a:p>
          <a:p>
            <a:endParaRPr lang="en-US" sz="2900"/>
          </a:p>
        </p:txBody>
      </p:sp>
    </p:spTree>
    <p:extLst>
      <p:ext uri="{BB962C8B-B14F-4D97-AF65-F5344CB8AC3E}">
        <p14:creationId xmlns:p14="http://schemas.microsoft.com/office/powerpoint/2010/main" val="3242946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BECE6-0F87-EB4C-392A-741CA62E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</p:spPr>
        <p:txBody>
          <a:bodyPr anchor="ctr">
            <a:normAutofit/>
          </a:bodyPr>
          <a:lstStyle/>
          <a:p>
            <a:r>
              <a:rPr lang="en-US"/>
              <a:t>Result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001AAB-3D5E-0D46-F0DD-46ED61678D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805" r="1" b="14235"/>
          <a:stretch>
            <a:fillRect/>
          </a:stretch>
        </p:blipFill>
        <p:spPr>
          <a:xfrm>
            <a:off x="1257300" y="2738438"/>
            <a:ext cx="15773400" cy="65270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47970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9D042-4CB5-858D-4A5D-63E7CE2BD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2979F-D646-4327-C0E4-ABFF7B10C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Making it more accessible for more festivals</a:t>
            </a:r>
          </a:p>
          <a:p>
            <a:r>
              <a:rPr lang="en-US"/>
              <a:t>Making it easier for the </a:t>
            </a:r>
            <a:r>
              <a:rPr lang="en-US" err="1"/>
              <a:t>organisers</a:t>
            </a:r>
            <a:r>
              <a:rPr lang="en-US"/>
              <a:t> to edit</a:t>
            </a:r>
          </a:p>
          <a:p>
            <a:r>
              <a:rPr lang="en-US"/>
              <a:t>Upscaling</a:t>
            </a:r>
          </a:p>
        </p:txBody>
      </p:sp>
    </p:spTree>
    <p:extLst>
      <p:ext uri="{BB962C8B-B14F-4D97-AF65-F5344CB8AC3E}">
        <p14:creationId xmlns:p14="http://schemas.microsoft.com/office/powerpoint/2010/main" val="5297581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45361-74A2-E868-EEE0-36210DDB3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Kanban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CCDF3-6505-5A92-5E62-EFDF2945C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Team 38 </a:t>
            </a:r>
            <a:r>
              <a:rPr lang="en-US">
                <a:ea typeface="+mn-lt"/>
                <a:cs typeface="+mn-lt"/>
                <a:hlinkClick r:id="rId2"/>
              </a:rPr>
              <a:t>Maspoe</a:t>
            </a:r>
            <a:r>
              <a:rPr lang="en-US" dirty="0">
                <a:ea typeface="+mn-lt"/>
                <a:cs typeface="+mn-lt"/>
                <a:hlinkClick r:id="rId2"/>
              </a:rPr>
              <a:t> - Miro</a:t>
            </a:r>
          </a:p>
          <a:p>
            <a:r>
              <a:rPr lang="en-US" dirty="0">
                <a:ea typeface="+mn-lt"/>
                <a:cs typeface="+mn-lt"/>
              </a:rPr>
              <a:t>Not possible anymore to edit</a:t>
            </a:r>
          </a:p>
        </p:txBody>
      </p:sp>
    </p:spTree>
    <p:extLst>
      <p:ext uri="{BB962C8B-B14F-4D97-AF65-F5344CB8AC3E}">
        <p14:creationId xmlns:p14="http://schemas.microsoft.com/office/powerpoint/2010/main" val="27584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BC410F-33E8-0130-04F3-8FD39597F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685800"/>
            <a:ext cx="7678578" cy="2400300"/>
          </a:xfrm>
        </p:spPr>
        <p:txBody>
          <a:bodyPr anchor="b">
            <a:normAutofit/>
          </a:bodyPr>
          <a:lstStyle/>
          <a:p>
            <a:r>
              <a:rPr lang="en-US" sz="6000" b="1" dirty="0"/>
              <a:t>Thank you for listening</a:t>
            </a:r>
          </a:p>
        </p:txBody>
      </p:sp>
      <p:pic>
        <p:nvPicPr>
          <p:cNvPr id="2050" name="Picture 2" descr="Vicaris Village Dendermonde / Entertainment / Kalender | Maspoe">
            <a:extLst>
              <a:ext uri="{FF2B5EF4-FFF2-40B4-BE49-F238E27FC236}">
                <a16:creationId xmlns:a16="http://schemas.microsoft.com/office/drawing/2014/main" id="{1E2ACABC-FCE5-CE05-D9F7-E581DF3CD6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97"/>
          <a:stretch>
            <a:fillRect/>
          </a:stretch>
        </p:blipFill>
        <p:spPr bwMode="auto">
          <a:xfrm>
            <a:off x="10264141" y="1"/>
            <a:ext cx="8023860" cy="10536303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A33BA5B9-25E7-DD49-10A1-62D5556E7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>
            <a:normAutofit/>
          </a:bodyPr>
          <a:lstStyle/>
          <a:p>
            <a:r>
              <a:rPr lang="en-US" sz="3200" dirty="0"/>
              <a:t>Group 38</a:t>
            </a:r>
          </a:p>
        </p:txBody>
      </p:sp>
    </p:spTree>
    <p:extLst>
      <p:ext uri="{BB962C8B-B14F-4D97-AF65-F5344CB8AC3E}">
        <p14:creationId xmlns:p14="http://schemas.microsoft.com/office/powerpoint/2010/main" val="2704022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9DA58-8BBA-9221-8501-3DF3C000B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2E090-5947-E6FD-9F12-5352576C0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Site </a:t>
            </a:r>
            <a:r>
              <a:rPr lang="en-US" dirty="0" err="1">
                <a:ea typeface="+mn-lt"/>
                <a:cs typeface="+mn-lt"/>
                <a:hlinkClick r:id="rId2"/>
              </a:rPr>
              <a:t>Maspoe</a:t>
            </a:r>
            <a:endParaRPr lang="en-US" dirty="0">
              <a:ea typeface="+mn-lt"/>
              <a:cs typeface="+mn-lt"/>
              <a:hlinkClick r:id="rId2"/>
            </a:endParaRPr>
          </a:p>
          <a:p>
            <a:pPr marL="0" indent="0">
              <a:buNone/>
            </a:pPr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MVP render – polls</a:t>
            </a:r>
            <a:endParaRPr lang="en-US" dirty="0"/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  <a:hlinkClick r:id="rId4"/>
              </a:rPr>
              <a:t>Team 38 kanban - Miro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668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1E55AAA-BC83-6137-018D-AF14A64FE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FCBCB5F9-DB15-8087-C5FA-403307C9B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666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1B56EA-DA94-91AA-A521-0E152B538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5" name="Tijdelijke aanduiding voor inhoud 4" descr="Afbeelding met tekst, schermopname, diagram, Parallel&#10;&#10;Door AI gegenereerde inhoud is mogelijk onjuist.">
            <a:extLst>
              <a:ext uri="{FF2B5EF4-FFF2-40B4-BE49-F238E27FC236}">
                <a16:creationId xmlns:a16="http://schemas.microsoft.com/office/drawing/2014/main" id="{F1DC056C-5262-857C-EA73-079E4E73EF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88" b="5320"/>
          <a:stretch>
            <a:fillRect/>
          </a:stretch>
        </p:blipFill>
        <p:spPr>
          <a:xfrm>
            <a:off x="2647191" y="436551"/>
            <a:ext cx="12993618" cy="9413898"/>
          </a:xfrm>
        </p:spPr>
      </p:pic>
    </p:spTree>
    <p:extLst>
      <p:ext uri="{BB962C8B-B14F-4D97-AF65-F5344CB8AC3E}">
        <p14:creationId xmlns:p14="http://schemas.microsoft.com/office/powerpoint/2010/main" val="3482838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</p:spPr>
        <p:txBody>
          <a:bodyPr vert="horz" lIns="0" tIns="12700" rIns="0" bIns="0" rtlCol="0" anchor="ctr">
            <a:normAutofit/>
          </a:bodyPr>
          <a:lstStyle/>
          <a:p>
            <a:pPr marL="12700">
              <a:spcBef>
                <a:spcPts val="100"/>
              </a:spcBef>
            </a:pPr>
            <a:r>
              <a:rPr lang="en-GB" spc="-100"/>
              <a:t>Algorithmic Support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6F9E93-C3F8-E559-ED24-16238BF00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337" y="2152730"/>
            <a:ext cx="9816796" cy="70123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840BE-B418-D8C6-3B24-808E6D5D8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BD465E9-D02A-CFD3-1DCA-6861925E3D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</p:spPr>
        <p:txBody>
          <a:bodyPr vert="horz" lIns="0" tIns="12700" rIns="0" bIns="0" rtlCol="0" anchor="ctr">
            <a:normAutofit/>
          </a:bodyPr>
          <a:lstStyle/>
          <a:p>
            <a:pPr marL="12700">
              <a:spcBef>
                <a:spcPts val="100"/>
              </a:spcBef>
            </a:pPr>
            <a:r>
              <a:rPr lang="en-GB" spc="-100"/>
              <a:t>Algorithmic Support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57FEC4-AB7D-957E-D04A-5FCE1B6D7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995" y="2179464"/>
            <a:ext cx="9528653" cy="718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3715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FE2F5-9AE6-05F3-8972-734C22F1A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8D6DD55-6CAE-E79F-024F-E9DA52D446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</p:spPr>
        <p:txBody>
          <a:bodyPr vert="horz" lIns="0" tIns="12700" rIns="0" bIns="0" rtlCol="0" anchor="ctr">
            <a:normAutofit/>
          </a:bodyPr>
          <a:lstStyle/>
          <a:p>
            <a:pPr marL="12700">
              <a:spcBef>
                <a:spcPts val="100"/>
              </a:spcBef>
            </a:pPr>
            <a:r>
              <a:rPr lang="en-GB" spc="-100"/>
              <a:t>Algorithmic Support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A8C1FC-A60D-281D-F18D-624DE4BAB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516" y="2118073"/>
            <a:ext cx="10692269" cy="695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8635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5D2AE-9813-5B03-D6EC-BE6DEB073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235178C-0677-B182-05E5-C0B83344EC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</p:spPr>
        <p:txBody>
          <a:bodyPr vert="horz" lIns="0" tIns="12700" rIns="0" bIns="0" rtlCol="0" anchor="ctr">
            <a:normAutofit/>
          </a:bodyPr>
          <a:lstStyle/>
          <a:p>
            <a:pPr marL="12700">
              <a:spcBef>
                <a:spcPts val="100"/>
              </a:spcBef>
            </a:pPr>
            <a:r>
              <a:rPr lang="en-GB" spc="-100"/>
              <a:t>Algorithmic Support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126893-75E6-D7DF-4055-53CFE9C7C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213" y="2251553"/>
            <a:ext cx="10494984" cy="7177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329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Aangepast 3">
      <a:dk1>
        <a:srgbClr val="EFBF2E"/>
      </a:dk1>
      <a:lt1>
        <a:srgbClr val="132B4F"/>
      </a:lt1>
      <a:dk2>
        <a:srgbClr val="DBE9F7"/>
      </a:dk2>
      <a:lt2>
        <a:srgbClr val="132B4F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85b3b07-d56c-4de1-8d58-bf56d3c5825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671355FE49594EB2786503D1E86F99" ma:contentTypeVersion="9" ma:contentTypeDescription="Een nieuw document maken." ma:contentTypeScope="" ma:versionID="d47e29344f2c98aa5851738b8a3a0eac">
  <xsd:schema xmlns:xsd="http://www.w3.org/2001/XMLSchema" xmlns:xs="http://www.w3.org/2001/XMLSchema" xmlns:p="http://schemas.microsoft.com/office/2006/metadata/properties" xmlns:ns3="a85b3b07-d56c-4de1-8d58-bf56d3c58258" xmlns:ns4="35f52b76-c44d-42f0-9194-656488d62aaa" targetNamespace="http://schemas.microsoft.com/office/2006/metadata/properties" ma:root="true" ma:fieldsID="7aaf68f3d999da952ed7d0369c718435" ns3:_="" ns4:_="">
    <xsd:import namespace="a85b3b07-d56c-4de1-8d58-bf56d3c58258"/>
    <xsd:import namespace="35f52b76-c44d-42f0-9194-656488d62aa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5b3b07-d56c-4de1-8d58-bf56d3c582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f52b76-c44d-42f0-9194-656488d62aa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2529B2D-D0A8-4697-89C5-0816BB406ECF}">
  <ds:schemaRefs>
    <ds:schemaRef ds:uri="http://schemas.microsoft.com/office/2006/documentManagement/types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35f52b76-c44d-42f0-9194-656488d62aaa"/>
    <ds:schemaRef ds:uri="a85b3b07-d56c-4de1-8d58-bf56d3c58258"/>
  </ds:schemaRefs>
</ds:datastoreItem>
</file>

<file path=customXml/itemProps2.xml><?xml version="1.0" encoding="utf-8"?>
<ds:datastoreItem xmlns:ds="http://schemas.openxmlformats.org/officeDocument/2006/customXml" ds:itemID="{A7179730-A6A4-4F2F-8E4C-058348F44C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92243D-8160-4A70-B640-AFBF2B2DA23C}">
  <ds:schemaRefs>
    <ds:schemaRef ds:uri="35f52b76-c44d-42f0-9194-656488d62aaa"/>
    <ds:schemaRef ds:uri="a85b3b07-d56c-4de1-8d58-bf56d3c582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689</TotalTime>
  <Words>1844</Words>
  <Application>Microsoft Office PowerPoint</Application>
  <PresentationFormat>Aangepast</PresentationFormat>
  <Paragraphs>230</Paragraphs>
  <Slides>31</Slides>
  <Notes>15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12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31</vt:i4>
      </vt:variant>
    </vt:vector>
  </HeadingPairs>
  <TitlesOfParts>
    <vt:vector size="44" baseType="lpstr">
      <vt:lpstr>Aptos</vt:lpstr>
      <vt:lpstr>Aptos Display</vt:lpstr>
      <vt:lpstr>Arial</vt:lpstr>
      <vt:lpstr>Calibri</vt:lpstr>
      <vt:lpstr>Cambria</vt:lpstr>
      <vt:lpstr>Consolas</vt:lpstr>
      <vt:lpstr>Courier New</vt:lpstr>
      <vt:lpstr>Tahoma</vt:lpstr>
      <vt:lpstr>Times New Roman</vt:lpstr>
      <vt:lpstr>Trebuchet MS</vt:lpstr>
      <vt:lpstr>Verdana</vt:lpstr>
      <vt:lpstr>Wingdings</vt:lpstr>
      <vt:lpstr>Kantoorthema</vt:lpstr>
      <vt:lpstr>PowerPoint-presentatie</vt:lpstr>
      <vt:lpstr>OVERVIEW</vt:lpstr>
      <vt:lpstr>ABOUT MASPOE </vt:lpstr>
      <vt:lpstr>PowerPoint-presentatie</vt:lpstr>
      <vt:lpstr>Beginning</vt:lpstr>
      <vt:lpstr>Strategy</vt:lpstr>
      <vt:lpstr>User stories</vt:lpstr>
      <vt:lpstr>User Interface with Figma (initial)</vt:lpstr>
      <vt:lpstr>User Interface (now)</vt:lpstr>
      <vt:lpstr>ERD</vt:lpstr>
      <vt:lpstr>Festival Edition</vt:lpstr>
      <vt:lpstr>Overall architecture</vt:lpstr>
      <vt:lpstr>Flask app</vt:lpstr>
      <vt:lpstr>Routes</vt:lpstr>
      <vt:lpstr>Database models</vt:lpstr>
      <vt:lpstr>Services and business logic</vt:lpstr>
      <vt:lpstr>Algorithmic support</vt:lpstr>
      <vt:lpstr>Strenghts</vt:lpstr>
      <vt:lpstr>Upscalability</vt:lpstr>
      <vt:lpstr>Image storage as an upscaling strategy</vt:lpstr>
      <vt:lpstr>Result</vt:lpstr>
      <vt:lpstr>The future</vt:lpstr>
      <vt:lpstr>Kanban</vt:lpstr>
      <vt:lpstr>Thank you for listening</vt:lpstr>
      <vt:lpstr>Appendix</vt:lpstr>
      <vt:lpstr>Q&amp;A</vt:lpstr>
      <vt:lpstr>PowerPoint-presentatie</vt:lpstr>
      <vt:lpstr>Algorithmic Support</vt:lpstr>
      <vt:lpstr>Algorithmic Support</vt:lpstr>
      <vt:lpstr>Algorithmic Support</vt:lpstr>
      <vt:lpstr>Algorithmic Support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project</dc:title>
  <dc:creator>lieze meert</dc:creator>
  <cp:keywords>DAF1jSFzWgM,BACUblM4f2Q</cp:keywords>
  <cp:lastModifiedBy>Judith Ceuppens</cp:lastModifiedBy>
  <cp:revision>2</cp:revision>
  <dcterms:created xsi:type="dcterms:W3CDTF">2025-12-10T13:11:32Z</dcterms:created>
  <dcterms:modified xsi:type="dcterms:W3CDTF">2025-12-18T21:40:57Z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2023-12-14T00:00:00Z</vt:filetime>
  </property>
  <property fmtid="{D5CDD505-2E9C-101B-9397-08002B2CF9AE}" pid="3" name="Creator">
    <vt:lpwstr>Canva</vt:lpwstr>
  </property>
  <property fmtid="{D5CDD505-2E9C-101B-9397-08002B2CF9AE}" pid="4" name="LastSaved">
    <vt:filetime>2025-12-10T00:00:00Z</vt:filetime>
  </property>
  <property fmtid="{D5CDD505-2E9C-101B-9397-08002B2CF9AE}" pid="5" name="Producer">
    <vt:lpwstr>Canva</vt:lpwstr>
  </property>
  <property fmtid="{D5CDD505-2E9C-101B-9397-08002B2CF9AE}" pid="6" name="ContentTypeId">
    <vt:lpwstr>0x01010089671355FE49594EB2786503D1E86F99</vt:lpwstr>
  </property>
</Properties>
</file>